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 SUMo est le prototype opérationnel de supervision des services financiers numériques développé à l'ARCEP. Insister d'emblée : données simulées, démonstration de capacité — la mise en production suit le plan en 4 phases présenté en fin de partie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plan : partie A brève pour l'arbitrage, partie B = manuel de lecture des écrans, à conserver comme support de formation des techniciens.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la supervision n'est pas une défiance envers les opérateurs, c'est la condition d'un marché de confiance — pour l'État (recettes), pour les consommateurs (frais, qualité) et pour les opérateurs eux-mêmes (règles égales pour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la chaîne de gauche à droite. Le mot-clé est « opposable » : la plateforme est conçue pour que ses constats tiennent face à un opérateur qui les conteste (registre signé, journal probant, procédure contradictoire).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garanties répondent aux questions institutionnelles classiques : qui possède la donnée, qui la vérifie, qui protège le citoyen, qu'est-ce que l'État y gagne.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sensible institutionnel : montrer que le projet respecte les compétences de la BEAC/COBAC, de l'ANIF et de la DGI. Les conventions inter-institutions sont un chantier de la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volontairement modeste et bornée : 3 mois, gabarits déclaratifs + 4 sites de sondes, et un livrable visible du public. Chaque phase suivante a ses propres critères d'acceptation vérifiables.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à projeter lors de toute formation : une fois les trois drapeaux compris, tous les écrans de la plateforme se lisent de la même façon.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techniciens : c'est l'écran d'accueil. Bien expliquer la notion de fenêtre glissante et le lien vers Reporting pour les périodes longues.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l'argument d'opposabilité : expliquer qu'un registre chaîné et signé rend toute altération détectable, y compris par un tiers muni de la clé publique.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Écran clé pour le MEF/DGI : la sous-déclaration devient un chiffre visible et documenté, transaction par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p95 (l'indicateur que les opérateurs préfèrent éviter) et sur le canal USSD, socle de l'inclusion.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la posture honnête du prototype : détection statistique, pas d'IA opaque ; l'humain qualifie, la plateforme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Souligner l'équilibre : puissance d'enquête réelle, mais démasquage tracé et réservé — c'est la traduction opérationnelle de la loi 001/2011.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couple collecte authentifiée / export signé fait de SUMo un intermédiaire de confiance entre les opérateurs et les institutions destinataires.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Répond à la question « qui contrôle le contrôleur » : droits distribués selon l'organigramme officiel, et journal d'audit sur les actes d'administration eux-mêmes.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la plus importante de la partie B : c'est ce qui distingue SUMo d'un simple tableau de bord — l'ARCEP produit sa propre vérité mesurée, opposable.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Volet concurrence : sans accès équitable aux canaux, pas d'innovation possible pour les fintechs locales. Les jalons J0–J3 seront fixés par décision de l'ARCEP.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dirigeant : cet écran transforme des plaintes individuelles en responsabilité systémique documentée. À terme (phase 1), les réclamations déclarées par les opérateurs s'y recouperont avec celles reçues directement par l'ARCEP.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Volet propre au mandat postal de l'ARCEP, absent des solutions commerciales étudiées : il relie la supervision financière à l'aménagement du territoire.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Utile en formation : chacun retrouve son espace. Les opérateurs sont des utilisateurs de la plateforme, pas seulement des supervisés — transparence réciproque, mais cloisonnée.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en trois phrases, puis ouvrir les questions. Si la discussion s'oriente vers le budget : la phase 0 n'exige ni marché lourd ni développement nouveau — elle valide la méthode avec l'existant.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1B"/>
        </a:solidFill>
      </p:bgPr>
    </p:bg>
    <p:spTree>
      <p:nvGrpSpPr>
        <p:cNvPr id="1" name=""/>
        <p:cNvGrpSpPr/>
        <p:nvPr/>
      </p:nvGrpSpPr>
      <p:grpSpPr>
        <a:xfrm>
          <a:off x="0" y="0"/>
          <a:ext cx="0" cy="0"/>
          <a:chOff x="0" y="0"/>
          <a:chExt cx="0" cy="0"/>
        </a:xfrm>
      </p:grpSpPr>
      <p:sp>
        <p:nvSpPr>
          <p:cNvPr id="2" name="Shape 0"/>
          <p:cNvSpPr/>
          <p:nvPr/>
        </p:nvSpPr>
        <p:spPr>
          <a:xfrm>
            <a:off x="8869680" y="-2377440"/>
            <a:ext cx="6766560" cy="6766560"/>
          </a:xfrm>
          <a:prstGeom prst="ellipse">
            <a:avLst/>
          </a:prstGeom>
          <a:solidFill>
            <a:srgbClr val="0A3D2B"/>
          </a:solidFill>
          <a:ln/>
        </p:spPr>
      </p:sp>
      <p:sp>
        <p:nvSpPr>
          <p:cNvPr id="3" name="Shape 1"/>
          <p:cNvSpPr/>
          <p:nvPr/>
        </p:nvSpPr>
        <p:spPr>
          <a:xfrm>
            <a:off x="10424160" y="4480560"/>
            <a:ext cx="4023360" cy="4023360"/>
          </a:xfrm>
          <a:prstGeom prst="ellipse">
            <a:avLst/>
          </a:prstGeom>
          <a:solidFill>
            <a:srgbClr val="0E5C3F"/>
          </a:solidFill>
          <a:ln/>
        </p:spPr>
      </p:sp>
      <p:sp>
        <p:nvSpPr>
          <p:cNvPr id="4" name="Text 2"/>
          <p:cNvSpPr/>
          <p:nvPr/>
        </p:nvSpPr>
        <p:spPr>
          <a:xfrm>
            <a:off x="685800" y="594360"/>
            <a:ext cx="6400800" cy="292608"/>
          </a:xfrm>
          <a:prstGeom prst="rect">
            <a:avLst/>
          </a:prstGeom>
          <a:noFill/>
          <a:ln/>
        </p:spPr>
        <p:txBody>
          <a:bodyPr wrap="square" lIns="0" tIns="0" rIns="0" bIns="0" rtlCol="0" anchor="ctr"/>
          <a:lstStyle/>
          <a:p>
            <a:pPr indent="0" marL="0">
              <a:buNone/>
            </a:pPr>
            <a:r>
              <a:rPr lang="en-US" sz="1300" b="1" spc="300" kern="0" dirty="0">
                <a:solidFill>
                  <a:srgbClr val="E8A93B"/>
                </a:solidFill>
                <a:latin typeface="Arial" pitchFamily="34" charset="0"/>
                <a:ea typeface="Arial" pitchFamily="34" charset="-122"/>
                <a:cs typeface="Arial" pitchFamily="34" charset="-120"/>
              </a:rPr>
              <a:t>RÉPUBLIQUE GABONAISE</a:t>
            </a:r>
            <a:endParaRPr lang="en-US" sz="1300" dirty="0"/>
          </a:p>
        </p:txBody>
      </p:sp>
      <p:sp>
        <p:nvSpPr>
          <p:cNvPr id="5" name="Text 3"/>
          <p:cNvSpPr/>
          <p:nvPr/>
        </p:nvSpPr>
        <p:spPr>
          <a:xfrm>
            <a:off x="685800" y="914400"/>
            <a:ext cx="7863840" cy="292608"/>
          </a:xfrm>
          <a:prstGeom prst="rect">
            <a:avLst/>
          </a:prstGeom>
          <a:noFill/>
          <a:ln/>
        </p:spPr>
        <p:txBody>
          <a:bodyPr wrap="square" lIns="0" tIns="0" rIns="0" bIns="0" rtlCol="0" anchor="ctr"/>
          <a:lstStyle/>
          <a:p>
            <a:pPr indent="0" marL="0">
              <a:buNone/>
            </a:pPr>
            <a:r>
              <a:rPr lang="en-US" sz="1200" dirty="0">
                <a:solidFill>
                  <a:srgbClr val="CADCCF"/>
                </a:solidFill>
                <a:latin typeface="Arial" pitchFamily="34" charset="0"/>
                <a:ea typeface="Arial" pitchFamily="34" charset="-122"/>
                <a:cs typeface="Arial" pitchFamily="34" charset="-120"/>
              </a:rPr>
              <a:t>ARCEP — Autorité de Régulation des Communications Électroniques et des Postes</a:t>
            </a:r>
            <a:endParaRPr lang="en-US" sz="1200" dirty="0"/>
          </a:p>
        </p:txBody>
      </p:sp>
      <p:sp>
        <p:nvSpPr>
          <p:cNvPr id="6" name="Text 4"/>
          <p:cNvSpPr/>
          <p:nvPr/>
        </p:nvSpPr>
        <p:spPr>
          <a:xfrm>
            <a:off x="658368" y="1828800"/>
            <a:ext cx="7315200" cy="1051560"/>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SUMo</a:t>
            </a:r>
            <a:endParaRPr lang="en-US" sz="7600" dirty="0"/>
          </a:p>
        </p:txBody>
      </p:sp>
      <p:sp>
        <p:nvSpPr>
          <p:cNvPr id="7" name="Text 5"/>
          <p:cNvSpPr/>
          <p:nvPr/>
        </p:nvSpPr>
        <p:spPr>
          <a:xfrm>
            <a:off x="685800" y="2971800"/>
            <a:ext cx="8778240" cy="914400"/>
          </a:xfrm>
          <a:prstGeom prst="rect">
            <a:avLst/>
          </a:prstGeom>
          <a:noFill/>
          <a:ln/>
        </p:spPr>
        <p:txBody>
          <a:bodyPr wrap="square" lIns="0" tIns="0" rIns="0" bIns="0" rtlCol="0" anchor="ctr"/>
          <a:lstStyle/>
          <a:p>
            <a:pPr indent="0" marL="0">
              <a:buNone/>
            </a:pPr>
            <a:r>
              <a:rPr lang="en-US" sz="2400" dirty="0">
                <a:solidFill>
                  <a:srgbClr val="E9F2EC"/>
                </a:solidFill>
                <a:latin typeface="Cambria" pitchFamily="34" charset="0"/>
                <a:ea typeface="Cambria" pitchFamily="34" charset="-122"/>
                <a:cs typeface="Cambria" pitchFamily="34" charset="-120"/>
              </a:rPr>
              <a:t>Supervision des services financiers numériques</a:t>
            </a:r>
            <a:endParaRPr lang="en-US" sz="2400" dirty="0"/>
          </a:p>
          <a:p>
            <a:pPr indent="0" marL="0">
              <a:buNone/>
            </a:pPr>
            <a:r>
              <a:rPr lang="en-US" sz="2400" dirty="0">
                <a:solidFill>
                  <a:srgbClr val="E9F2EC"/>
                </a:solidFill>
                <a:latin typeface="Cambria" pitchFamily="34" charset="0"/>
                <a:ea typeface="Cambria" pitchFamily="34" charset="-122"/>
                <a:cs typeface="Cambria" pitchFamily="34" charset="-120"/>
              </a:rPr>
              <a:t>et des services financiers postaux</a:t>
            </a:r>
            <a:endParaRPr lang="en-US" sz="2400" dirty="0"/>
          </a:p>
        </p:txBody>
      </p:sp>
      <p:sp>
        <p:nvSpPr>
          <p:cNvPr id="8" name="Text 6"/>
          <p:cNvSpPr/>
          <p:nvPr/>
        </p:nvSpPr>
        <p:spPr>
          <a:xfrm>
            <a:off x="685800" y="4041648"/>
            <a:ext cx="8595360" cy="365760"/>
          </a:xfrm>
          <a:prstGeom prst="rect">
            <a:avLst/>
          </a:prstGeom>
          <a:noFill/>
          <a:ln/>
        </p:spPr>
        <p:txBody>
          <a:bodyPr wrap="square" lIns="0" tIns="0" rIns="0" bIns="0" rtlCol="0" anchor="ctr"/>
          <a:lstStyle/>
          <a:p>
            <a:pPr indent="0" marL="0">
              <a:buNone/>
            </a:pPr>
            <a:r>
              <a:rPr lang="en-US" sz="1400" i="1" dirty="0">
                <a:solidFill>
                  <a:srgbClr val="A9C4B4"/>
                </a:solidFill>
                <a:latin typeface="Arial" pitchFamily="34" charset="0"/>
                <a:ea typeface="Arial" pitchFamily="34" charset="-122"/>
                <a:cs typeface="Arial" pitchFamily="34" charset="-120"/>
              </a:rPr>
              <a:t>Présentation de la plateforme et de ses modules — niveaux dirigeant et technicien</a:t>
            </a:r>
            <a:endParaRPr lang="en-US" sz="1400" dirty="0"/>
          </a:p>
        </p:txBody>
      </p:sp>
      <p:sp>
        <p:nvSpPr>
          <p:cNvPr id="9" name="Shape 7"/>
          <p:cNvSpPr/>
          <p:nvPr/>
        </p:nvSpPr>
        <p:spPr>
          <a:xfrm>
            <a:off x="685800" y="4846320"/>
            <a:ext cx="6949440" cy="896112"/>
          </a:xfrm>
          <a:prstGeom prst="roundRect">
            <a:avLst>
              <a:gd name="adj" fmla="val 9184"/>
            </a:avLst>
          </a:prstGeom>
          <a:solidFill>
            <a:srgbClr val="0A3D2B"/>
          </a:solidFill>
          <a:ln/>
        </p:spPr>
      </p:sp>
      <p:sp>
        <p:nvSpPr>
          <p:cNvPr id="10" name="Text 8"/>
          <p:cNvSpPr/>
          <p:nvPr/>
        </p:nvSpPr>
        <p:spPr>
          <a:xfrm>
            <a:off x="914400" y="4974336"/>
            <a:ext cx="6583680" cy="65836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À l'attention de Monsieur le Vice-Président du Gouvernement
</a:t>
            </a:r>
            <a:pPr indent="0" marL="0">
              <a:buNone/>
            </a:pPr>
            <a:r>
              <a:rPr lang="en-US" sz="1150" dirty="0">
                <a:solidFill>
                  <a:srgbClr val="B9D2C4"/>
                </a:solidFill>
                <a:latin typeface="Arial" pitchFamily="34" charset="0"/>
                <a:ea typeface="Arial" pitchFamily="34" charset="-122"/>
                <a:cs typeface="Arial" pitchFamily="34" charset="-120"/>
              </a:rPr>
              <a:t>Dossier préparé par l'ARCEP — présentation interne</a:t>
            </a:r>
            <a:endParaRPr lang="en-US" sz="1500" dirty="0"/>
          </a:p>
        </p:txBody>
      </p:sp>
      <p:sp>
        <p:nvSpPr>
          <p:cNvPr id="11" name="Text 9"/>
          <p:cNvSpPr/>
          <p:nvPr/>
        </p:nvSpPr>
        <p:spPr>
          <a:xfrm>
            <a:off x="685800" y="6053328"/>
            <a:ext cx="10881360" cy="320040"/>
          </a:xfrm>
          <a:prstGeom prst="rect">
            <a:avLst/>
          </a:prstGeom>
          <a:noFill/>
          <a:ln/>
        </p:spPr>
        <p:txBody>
          <a:bodyPr wrap="square" lIns="0" tIns="0" rIns="0" bIns="0" rtlCol="0" anchor="ctr"/>
          <a:lstStyle/>
          <a:p>
            <a:pPr indent="0" marL="0">
              <a:buNone/>
            </a:pPr>
            <a:r>
              <a:rPr lang="en-US" sz="1050" i="1" dirty="0">
                <a:solidFill>
                  <a:srgbClr val="E8A93B"/>
                </a:solidFill>
                <a:latin typeface="Arial" pitchFamily="34" charset="0"/>
                <a:ea typeface="Arial" pitchFamily="34" charset="-122"/>
                <a:cs typeface="Arial" pitchFamily="34" charset="-120"/>
              </a:rPr>
              <a:t>PROTOTYPE DE DÉMONSTRATION — toutes les données affichées sont simulées ; aucun flux réel n'est supervisé à ce stade.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0972800" cy="548640"/>
          </a:xfrm>
          <a:prstGeom prst="rect">
            <a:avLst/>
          </a:prstGeom>
          <a:noFill/>
          <a:ln/>
        </p:spPr>
        <p:txBody>
          <a:bodyPr wrap="square" lIns="0" tIns="0" rIns="0" bIns="0" rtlCol="0" anchor="ctr"/>
          <a:lstStyle/>
          <a:p>
            <a:pPr indent="0" marL="0">
              <a:buNone/>
            </a:pPr>
            <a:r>
              <a:rPr lang="en-US" sz="3400" b="1" dirty="0">
                <a:solidFill>
                  <a:srgbClr val="1C2B24"/>
                </a:solidFill>
                <a:latin typeface="Cambria" pitchFamily="34" charset="0"/>
                <a:ea typeface="Cambria" pitchFamily="34" charset="-122"/>
                <a:cs typeface="Cambria" pitchFamily="34" charset="-120"/>
              </a:rPr>
              <a:t>Deux niveaux de lecture</a:t>
            </a:r>
            <a:endParaRPr lang="en-US" sz="3400" dirty="0"/>
          </a:p>
        </p:txBody>
      </p:sp>
      <p:sp>
        <p:nvSpPr>
          <p:cNvPr id="3" name="Text 1"/>
          <p:cNvSpPr/>
          <p:nvPr/>
        </p:nvSpPr>
        <p:spPr>
          <a:xfrm>
            <a:off x="502920" y="1051560"/>
            <a:ext cx="10972800" cy="320040"/>
          </a:xfrm>
          <a:prstGeom prst="rect">
            <a:avLst/>
          </a:prstGeom>
          <a:noFill/>
          <a:ln/>
        </p:spPr>
        <p:txBody>
          <a:bodyPr wrap="square" lIns="0" tIns="0" rIns="0" bIns="0" rtlCol="0" anchor="ctr"/>
          <a:lstStyle/>
          <a:p>
            <a:pPr indent="0" marL="0">
              <a:buNone/>
            </a:pPr>
            <a:r>
              <a:rPr lang="en-US" sz="1400" i="1" dirty="0">
                <a:solidFill>
                  <a:srgbClr val="7A8A82"/>
                </a:solidFill>
                <a:latin typeface="Arial" pitchFamily="34" charset="0"/>
                <a:ea typeface="Arial" pitchFamily="34" charset="-122"/>
                <a:cs typeface="Arial" pitchFamily="34" charset="-120"/>
              </a:rPr>
              <a:t>La même plateforme, expliquée pour deux publics.</a:t>
            </a:r>
            <a:endParaRPr lang="en-US" sz="1400" dirty="0"/>
          </a:p>
        </p:txBody>
      </p:sp>
      <p:sp>
        <p:nvSpPr>
          <p:cNvPr id="4" name="Shape 2"/>
          <p:cNvSpPr/>
          <p:nvPr/>
        </p:nvSpPr>
        <p:spPr>
          <a:xfrm>
            <a:off x="502920" y="1691640"/>
            <a:ext cx="5486400" cy="4206240"/>
          </a:xfrm>
          <a:prstGeom prst="roundRect">
            <a:avLst>
              <a:gd name="adj" fmla="val 1957"/>
            </a:avLst>
          </a:prstGeom>
          <a:solidFill>
            <a:srgbClr val="F1F5F3"/>
          </a:solidFill>
          <a:ln/>
        </p:spPr>
      </p:sp>
      <p:sp>
        <p:nvSpPr>
          <p:cNvPr id="5" name="Shape 3"/>
          <p:cNvSpPr/>
          <p:nvPr/>
        </p:nvSpPr>
        <p:spPr>
          <a:xfrm>
            <a:off x="868680" y="2011680"/>
            <a:ext cx="603504" cy="603504"/>
          </a:xfrm>
          <a:prstGeom prst="ellipse">
            <a:avLst/>
          </a:prstGeom>
          <a:solidFill>
            <a:srgbClr val="0E5C3F"/>
          </a:solidFill>
          <a:ln/>
        </p:spPr>
      </p:sp>
      <p:sp>
        <p:nvSpPr>
          <p:cNvPr id="6" name="Text 4"/>
          <p:cNvSpPr/>
          <p:nvPr/>
        </p:nvSpPr>
        <p:spPr>
          <a:xfrm>
            <a:off x="868680" y="1993392"/>
            <a:ext cx="603504"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a:t>
            </a:r>
            <a:endParaRPr lang="en-US" sz="2000" dirty="0"/>
          </a:p>
        </p:txBody>
      </p:sp>
      <p:sp>
        <p:nvSpPr>
          <p:cNvPr id="7" name="Text 5"/>
          <p:cNvSpPr/>
          <p:nvPr/>
        </p:nvSpPr>
        <p:spPr>
          <a:xfrm>
            <a:off x="1645920" y="2084832"/>
            <a:ext cx="4206240" cy="457200"/>
          </a:xfrm>
          <a:prstGeom prst="rect">
            <a:avLst/>
          </a:prstGeom>
          <a:noFill/>
          <a:ln/>
        </p:spPr>
        <p:txBody>
          <a:bodyPr wrap="square" lIns="0" tIns="0" rIns="0" bIns="0" rtlCol="0" anchor="ctr"/>
          <a:lstStyle/>
          <a:p>
            <a:pPr indent="0" marL="0">
              <a:buNone/>
            </a:pPr>
            <a:r>
              <a:rPr lang="en-US" sz="2000" b="1" dirty="0">
                <a:solidFill>
                  <a:srgbClr val="1C2B24"/>
                </a:solidFill>
                <a:latin typeface="Cambria" pitchFamily="34" charset="0"/>
                <a:ea typeface="Cambria" pitchFamily="34" charset="-122"/>
                <a:cs typeface="Cambria" pitchFamily="34" charset="-120"/>
              </a:rPr>
              <a:t>L'essentiel pour la décision</a:t>
            </a:r>
            <a:endParaRPr lang="en-US" sz="2000" dirty="0"/>
          </a:p>
        </p:txBody>
      </p:sp>
      <p:sp>
        <p:nvSpPr>
          <p:cNvPr id="8" name="Text 6"/>
          <p:cNvSpPr/>
          <p:nvPr/>
        </p:nvSpPr>
        <p:spPr>
          <a:xfrm>
            <a:off x="1645920" y="2523744"/>
            <a:ext cx="4206240" cy="457200"/>
          </a:xfrm>
          <a:prstGeom prst="rect">
            <a:avLst/>
          </a:prstGeom>
          <a:noFill/>
          <a:ln/>
        </p:spPr>
        <p:txBody>
          <a:bodyPr wrap="square" lIns="0" tIns="0" rIns="0" bIns="0" rtlCol="0" anchor="ctr"/>
          <a:lstStyle/>
          <a:p>
            <a:pPr indent="0" marL="0">
              <a:buNone/>
            </a:pPr>
            <a:r>
              <a:rPr lang="en-US" sz="1150" i="1" dirty="0">
                <a:solidFill>
                  <a:srgbClr val="7A8A82"/>
                </a:solidFill>
                <a:latin typeface="Arial" pitchFamily="34" charset="0"/>
                <a:ea typeface="Arial" pitchFamily="34" charset="-122"/>
                <a:cs typeface="Arial" pitchFamily="34" charset="-120"/>
              </a:rPr>
              <a:t>Instance dirigeante et institutionnelle — 5 diapositives, 5 minutes</a:t>
            </a:r>
            <a:endParaRPr lang="en-US" sz="1150" dirty="0"/>
          </a:p>
        </p:txBody>
      </p:sp>
      <p:sp>
        <p:nvSpPr>
          <p:cNvPr id="9" name="Text 7"/>
          <p:cNvSpPr/>
          <p:nvPr/>
        </p:nvSpPr>
        <p:spPr>
          <a:xfrm>
            <a:off x="914400" y="3154680"/>
            <a:ext cx="4754880" cy="246888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L'enjeu : pourquoi superviser le mobile money</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Ce que fait la plateforme, en une image</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Les quatre garanties institutionnelles</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Le périmètre et les institutions partenaires</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L'état d'avancement et la décision proposée</a:t>
            </a:r>
            <a:endParaRPr lang="en-US" sz="1350" dirty="0"/>
          </a:p>
        </p:txBody>
      </p:sp>
      <p:sp>
        <p:nvSpPr>
          <p:cNvPr id="10" name="Shape 8"/>
          <p:cNvSpPr/>
          <p:nvPr/>
        </p:nvSpPr>
        <p:spPr>
          <a:xfrm>
            <a:off x="6263640" y="1691640"/>
            <a:ext cx="5440680" cy="4206240"/>
          </a:xfrm>
          <a:prstGeom prst="roundRect">
            <a:avLst>
              <a:gd name="adj" fmla="val 1957"/>
            </a:avLst>
          </a:prstGeom>
          <a:solidFill>
            <a:srgbClr val="F1F5F3"/>
          </a:solidFill>
          <a:ln/>
        </p:spPr>
      </p:sp>
      <p:sp>
        <p:nvSpPr>
          <p:cNvPr id="11" name="Shape 9"/>
          <p:cNvSpPr/>
          <p:nvPr/>
        </p:nvSpPr>
        <p:spPr>
          <a:xfrm>
            <a:off x="6629400" y="2011680"/>
            <a:ext cx="603504" cy="603504"/>
          </a:xfrm>
          <a:prstGeom prst="ellipse">
            <a:avLst/>
          </a:prstGeom>
          <a:solidFill>
            <a:srgbClr val="2F6DB5"/>
          </a:solidFill>
          <a:ln/>
        </p:spPr>
      </p:sp>
      <p:sp>
        <p:nvSpPr>
          <p:cNvPr id="12" name="Text 10"/>
          <p:cNvSpPr/>
          <p:nvPr/>
        </p:nvSpPr>
        <p:spPr>
          <a:xfrm>
            <a:off x="6629400" y="1993392"/>
            <a:ext cx="603504"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B</a:t>
            </a:r>
            <a:endParaRPr lang="en-US" sz="2000" dirty="0"/>
          </a:p>
        </p:txBody>
      </p:sp>
      <p:sp>
        <p:nvSpPr>
          <p:cNvPr id="13" name="Text 11"/>
          <p:cNvSpPr/>
          <p:nvPr/>
        </p:nvSpPr>
        <p:spPr>
          <a:xfrm>
            <a:off x="7406640" y="2084832"/>
            <a:ext cx="4114800" cy="457200"/>
          </a:xfrm>
          <a:prstGeom prst="rect">
            <a:avLst/>
          </a:prstGeom>
          <a:noFill/>
          <a:ln/>
        </p:spPr>
        <p:txBody>
          <a:bodyPr wrap="square" lIns="0" tIns="0" rIns="0" bIns="0" rtlCol="0" anchor="ctr"/>
          <a:lstStyle/>
          <a:p>
            <a:pPr indent="0" marL="0">
              <a:buNone/>
            </a:pPr>
            <a:r>
              <a:rPr lang="en-US" sz="2000" b="1" dirty="0">
                <a:solidFill>
                  <a:srgbClr val="1C2B24"/>
                </a:solidFill>
                <a:latin typeface="Cambria" pitchFamily="34" charset="0"/>
                <a:ea typeface="Cambria" pitchFamily="34" charset="-122"/>
                <a:cs typeface="Cambria" pitchFamily="34" charset="-120"/>
              </a:rPr>
              <a:t>Le guide des modules</a:t>
            </a:r>
            <a:endParaRPr lang="en-US" sz="2000" dirty="0"/>
          </a:p>
        </p:txBody>
      </p:sp>
      <p:sp>
        <p:nvSpPr>
          <p:cNvPr id="14" name="Text 12"/>
          <p:cNvSpPr/>
          <p:nvPr/>
        </p:nvSpPr>
        <p:spPr>
          <a:xfrm>
            <a:off x="7406640" y="2523744"/>
            <a:ext cx="4114800" cy="457200"/>
          </a:xfrm>
          <a:prstGeom prst="rect">
            <a:avLst/>
          </a:prstGeom>
          <a:noFill/>
          <a:ln/>
        </p:spPr>
        <p:txBody>
          <a:bodyPr wrap="square" lIns="0" tIns="0" rIns="0" bIns="0" rtlCol="0" anchor="ctr"/>
          <a:lstStyle/>
          <a:p>
            <a:pPr indent="0" marL="0">
              <a:buNone/>
            </a:pPr>
            <a:r>
              <a:rPr lang="en-US" sz="1150" i="1" dirty="0">
                <a:solidFill>
                  <a:srgbClr val="7A8A82"/>
                </a:solidFill>
                <a:latin typeface="Arial" pitchFamily="34" charset="0"/>
                <a:ea typeface="Arial" pitchFamily="34" charset="-122"/>
                <a:cs typeface="Arial" pitchFamily="34" charset="-120"/>
              </a:rPr>
              <a:t>Techniciens et directions utilisatrices — une fiche par volet</a:t>
            </a:r>
            <a:endParaRPr lang="en-US" sz="1150" dirty="0"/>
          </a:p>
        </p:txBody>
      </p:sp>
      <p:sp>
        <p:nvSpPr>
          <p:cNvPr id="15" name="Text 13"/>
          <p:cNvSpPr/>
          <p:nvPr/>
        </p:nvSpPr>
        <p:spPr>
          <a:xfrm>
            <a:off x="6675120" y="3154680"/>
            <a:ext cx="4754880" cy="246888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La clé de lecture des écrans (drapeaux de confiance)</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Les 13 modules de supervision du mobile money</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Les 4 modules M14 : mesure indépendante, accès des tiers, réclamations, services postaux</a:t>
            </a:r>
            <a:endParaRPr lang="en-US" sz="1350" dirty="0"/>
          </a:p>
          <a:p>
            <a:pPr marL="342900" indent="-342900">
              <a:spcAft>
                <a:spcPts val="1000"/>
              </a:spcAft>
              <a:buSzPct val="100000"/>
              <a:buChar char="•"/>
            </a:pPr>
            <a:r>
              <a:rPr lang="en-US" sz="1350" dirty="0">
                <a:solidFill>
                  <a:srgbClr val="3A4A42"/>
                </a:solidFill>
                <a:latin typeface="Arial" pitchFamily="34" charset="0"/>
                <a:ea typeface="Arial" pitchFamily="34" charset="-122"/>
                <a:cs typeface="Arial" pitchFamily="34" charset="-120"/>
              </a:rPr>
              <a:t>Pour chaque écran : les colonnes affichées et comment les interpréter</a:t>
            </a:r>
            <a:endParaRPr lang="en-US" sz="1350" dirty="0"/>
          </a:p>
        </p:txBody>
      </p:sp>
      <p:sp>
        <p:nvSpPr>
          <p:cNvPr id="16" name="Text 14"/>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7315200" cy="411480"/>
          </a:xfrm>
          <a:prstGeom prst="rect">
            <a:avLst/>
          </a:prstGeom>
          <a:noFill/>
          <a:ln/>
        </p:spPr>
        <p:txBody>
          <a:bodyPr wrap="square" lIns="0" tIns="0" rIns="0" bIns="0" rtlCol="0" anchor="ctr"/>
          <a:lstStyle/>
          <a:p>
            <a:pPr indent="0" marL="0">
              <a:buNone/>
            </a:pPr>
            <a:r>
              <a:rPr lang="en-US" sz="1300" b="1" spc="200" kern="0" dirty="0">
                <a:solidFill>
                  <a:srgbClr val="0E5C3F"/>
                </a:solidFill>
                <a:latin typeface="Arial" pitchFamily="34" charset="0"/>
                <a:ea typeface="Arial" pitchFamily="34" charset="-122"/>
                <a:cs typeface="Arial" pitchFamily="34" charset="-120"/>
              </a:rPr>
              <a:t>A · L'enjeu</a:t>
            </a:r>
            <a:endParaRPr lang="en-US" sz="1300" dirty="0"/>
          </a:p>
        </p:txBody>
      </p:sp>
      <p:sp>
        <p:nvSpPr>
          <p:cNvPr id="3" name="Text 1"/>
          <p:cNvSpPr/>
          <p:nvPr/>
        </p:nvSpPr>
        <p:spPr>
          <a:xfrm>
            <a:off x="502920" y="822960"/>
            <a:ext cx="11155680" cy="1051560"/>
          </a:xfrm>
          <a:prstGeom prst="rect">
            <a:avLst/>
          </a:prstGeom>
          <a:noFill/>
          <a:ln/>
        </p:spPr>
        <p:txBody>
          <a:bodyPr wrap="square" lIns="0" tIns="0" rIns="0" bIns="0" rtlCol="0" anchor="ctr"/>
          <a:lstStyle/>
          <a:p>
            <a:pPr indent="0" marL="0">
              <a:buNone/>
            </a:pPr>
            <a:r>
              <a:rPr lang="en-US" sz="2600" b="1" dirty="0">
                <a:solidFill>
                  <a:srgbClr val="1C2B24"/>
                </a:solidFill>
                <a:latin typeface="Cambria" pitchFamily="34" charset="0"/>
                <a:ea typeface="Cambria" pitchFamily="34" charset="-122"/>
                <a:cs typeface="Cambria" pitchFamily="34" charset="-120"/>
              </a:rPr>
              <a:t>Le mobile money est devenu une infrastructure vitale.</a:t>
            </a:r>
            <a:endParaRPr lang="en-US" sz="2600" dirty="0"/>
          </a:p>
          <a:p>
            <a:pPr indent="0" marL="0">
              <a:buNone/>
            </a:pPr>
            <a:r>
              <a:rPr lang="en-US" sz="2600" b="1" dirty="0">
                <a:solidFill>
                  <a:srgbClr val="1C2B24"/>
                </a:solidFill>
                <a:latin typeface="Cambria" pitchFamily="34" charset="0"/>
                <a:ea typeface="Cambria" pitchFamily="34" charset="-122"/>
                <a:cs typeface="Cambria" pitchFamily="34" charset="-120"/>
              </a:rPr>
              <a:t>L'État ne le voit aujourd'hui qu'à travers les déclarations des opérateurs.</a:t>
            </a:r>
            <a:endParaRPr lang="en-US" sz="2600" dirty="0"/>
          </a:p>
        </p:txBody>
      </p:sp>
      <p:sp>
        <p:nvSpPr>
          <p:cNvPr id="4" name="Shape 2"/>
          <p:cNvSpPr/>
          <p:nvPr/>
        </p:nvSpPr>
        <p:spPr>
          <a:xfrm>
            <a:off x="502920" y="2286000"/>
            <a:ext cx="3639312" cy="2286000"/>
          </a:xfrm>
          <a:prstGeom prst="roundRect">
            <a:avLst>
              <a:gd name="adj" fmla="val 3600"/>
            </a:avLst>
          </a:prstGeom>
          <a:solidFill>
            <a:srgbClr val="F1F5F3"/>
          </a:solidFill>
          <a:ln/>
        </p:spPr>
      </p:sp>
      <p:sp>
        <p:nvSpPr>
          <p:cNvPr id="5" name="Shape 3"/>
          <p:cNvSpPr/>
          <p:nvPr/>
        </p:nvSpPr>
        <p:spPr>
          <a:xfrm>
            <a:off x="731520" y="2578608"/>
            <a:ext cx="457200" cy="457200"/>
          </a:xfrm>
          <a:prstGeom prst="rect">
            <a:avLst/>
          </a:prstGeom>
          <a:solidFill>
            <a:srgbClr val="0E5C3F"/>
          </a:solidFill>
          <a:ln/>
        </p:spPr>
      </p:sp>
      <p:sp>
        <p:nvSpPr>
          <p:cNvPr id="6" name="Text 4"/>
          <p:cNvSpPr/>
          <p:nvPr/>
        </p:nvSpPr>
        <p:spPr>
          <a:xfrm>
            <a:off x="731520" y="3200400"/>
            <a:ext cx="3200400" cy="566928"/>
          </a:xfrm>
          <a:prstGeom prst="rect">
            <a:avLst/>
          </a:prstGeom>
          <a:noFill/>
          <a:ln/>
        </p:spPr>
        <p:txBody>
          <a:bodyPr wrap="square" lIns="0" tIns="0" rIns="0" bIns="0" rtlCol="0" anchor="ctr"/>
          <a:lstStyle/>
          <a:p>
            <a:pPr indent="0" marL="0">
              <a:buNone/>
            </a:pPr>
            <a:r>
              <a:rPr lang="en-US" sz="1650" b="1" dirty="0">
                <a:solidFill>
                  <a:srgbClr val="1C2B24"/>
                </a:solidFill>
                <a:latin typeface="Cambria" pitchFamily="34" charset="0"/>
                <a:ea typeface="Cambria" pitchFamily="34" charset="-122"/>
                <a:cs typeface="Cambria" pitchFamily="34" charset="-120"/>
              </a:rPr>
              <a:t>Paiements, salaires, transferts</a:t>
            </a:r>
            <a:endParaRPr lang="en-US" sz="1650" dirty="0"/>
          </a:p>
        </p:txBody>
      </p:sp>
      <p:sp>
        <p:nvSpPr>
          <p:cNvPr id="7" name="Text 5"/>
          <p:cNvSpPr/>
          <p:nvPr/>
        </p:nvSpPr>
        <p:spPr>
          <a:xfrm>
            <a:off x="731520" y="3785616"/>
            <a:ext cx="3200400" cy="73152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des millions d'opérations par jour transitent par les porte-monnaie mobiles</a:t>
            </a:r>
            <a:endParaRPr lang="en-US" sz="1150" dirty="0"/>
          </a:p>
        </p:txBody>
      </p:sp>
      <p:sp>
        <p:nvSpPr>
          <p:cNvPr id="8" name="Shape 6"/>
          <p:cNvSpPr/>
          <p:nvPr/>
        </p:nvSpPr>
        <p:spPr>
          <a:xfrm>
            <a:off x="4416552" y="2286000"/>
            <a:ext cx="3639312" cy="2286000"/>
          </a:xfrm>
          <a:prstGeom prst="roundRect">
            <a:avLst>
              <a:gd name="adj" fmla="val 3600"/>
            </a:avLst>
          </a:prstGeom>
          <a:solidFill>
            <a:srgbClr val="F1F5F3"/>
          </a:solidFill>
          <a:ln/>
        </p:spPr>
      </p:sp>
      <p:sp>
        <p:nvSpPr>
          <p:cNvPr id="9" name="Shape 7"/>
          <p:cNvSpPr/>
          <p:nvPr/>
        </p:nvSpPr>
        <p:spPr>
          <a:xfrm>
            <a:off x="4645152" y="2578608"/>
            <a:ext cx="457200" cy="457200"/>
          </a:xfrm>
          <a:prstGeom prst="rect">
            <a:avLst/>
          </a:prstGeom>
          <a:solidFill>
            <a:srgbClr val="E8A93B"/>
          </a:solidFill>
          <a:ln/>
        </p:spPr>
      </p:sp>
      <p:sp>
        <p:nvSpPr>
          <p:cNvPr id="10" name="Text 8"/>
          <p:cNvSpPr/>
          <p:nvPr/>
        </p:nvSpPr>
        <p:spPr>
          <a:xfrm>
            <a:off x="4645152" y="3200400"/>
            <a:ext cx="3200400" cy="566928"/>
          </a:xfrm>
          <a:prstGeom prst="rect">
            <a:avLst/>
          </a:prstGeom>
          <a:noFill/>
          <a:ln/>
        </p:spPr>
        <p:txBody>
          <a:bodyPr wrap="square" lIns="0" tIns="0" rIns="0" bIns="0" rtlCol="0" anchor="ctr"/>
          <a:lstStyle/>
          <a:p>
            <a:pPr indent="0" marL="0">
              <a:buNone/>
            </a:pPr>
            <a:r>
              <a:rPr lang="en-US" sz="1650" b="1" dirty="0">
                <a:solidFill>
                  <a:srgbClr val="1C2B24"/>
                </a:solidFill>
                <a:latin typeface="Cambria" pitchFamily="34" charset="0"/>
                <a:ea typeface="Cambria" pitchFamily="34" charset="-122"/>
                <a:cs typeface="Cambria" pitchFamily="34" charset="-120"/>
              </a:rPr>
              <a:t>Frais et redevances</a:t>
            </a:r>
            <a:endParaRPr lang="en-US" sz="1650" dirty="0"/>
          </a:p>
        </p:txBody>
      </p:sp>
      <p:sp>
        <p:nvSpPr>
          <p:cNvPr id="11" name="Text 9"/>
          <p:cNvSpPr/>
          <p:nvPr/>
        </p:nvSpPr>
        <p:spPr>
          <a:xfrm>
            <a:off x="4645152" y="3785616"/>
            <a:ext cx="3200400" cy="73152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l'assiette des contributions dues à l'État repose sur des chiffres non vérifiés</a:t>
            </a:r>
            <a:endParaRPr lang="en-US" sz="1150" dirty="0"/>
          </a:p>
        </p:txBody>
      </p:sp>
      <p:sp>
        <p:nvSpPr>
          <p:cNvPr id="12" name="Shape 10"/>
          <p:cNvSpPr/>
          <p:nvPr/>
        </p:nvSpPr>
        <p:spPr>
          <a:xfrm>
            <a:off x="8330184" y="2286000"/>
            <a:ext cx="3639312" cy="2286000"/>
          </a:xfrm>
          <a:prstGeom prst="roundRect">
            <a:avLst>
              <a:gd name="adj" fmla="val 3600"/>
            </a:avLst>
          </a:prstGeom>
          <a:solidFill>
            <a:srgbClr val="F1F5F3"/>
          </a:solidFill>
          <a:ln/>
        </p:spPr>
      </p:sp>
      <p:sp>
        <p:nvSpPr>
          <p:cNvPr id="13" name="Shape 11"/>
          <p:cNvSpPr/>
          <p:nvPr/>
        </p:nvSpPr>
        <p:spPr>
          <a:xfrm>
            <a:off x="8558784" y="2578608"/>
            <a:ext cx="457200" cy="457200"/>
          </a:xfrm>
          <a:prstGeom prst="rect">
            <a:avLst/>
          </a:prstGeom>
          <a:solidFill>
            <a:srgbClr val="2F6DB5"/>
          </a:solidFill>
          <a:ln/>
        </p:spPr>
      </p:sp>
      <p:sp>
        <p:nvSpPr>
          <p:cNvPr id="14" name="Text 12"/>
          <p:cNvSpPr/>
          <p:nvPr/>
        </p:nvSpPr>
        <p:spPr>
          <a:xfrm>
            <a:off x="8558784" y="3200400"/>
            <a:ext cx="3200400" cy="566928"/>
          </a:xfrm>
          <a:prstGeom prst="rect">
            <a:avLst/>
          </a:prstGeom>
          <a:noFill/>
          <a:ln/>
        </p:spPr>
        <p:txBody>
          <a:bodyPr wrap="square" lIns="0" tIns="0" rIns="0" bIns="0" rtlCol="0" anchor="ctr"/>
          <a:lstStyle/>
          <a:p>
            <a:pPr indent="0" marL="0">
              <a:buNone/>
            </a:pPr>
            <a:r>
              <a:rPr lang="en-US" sz="1650" b="1" dirty="0">
                <a:solidFill>
                  <a:srgbClr val="1C2B24"/>
                </a:solidFill>
                <a:latin typeface="Cambria" pitchFamily="34" charset="0"/>
                <a:ea typeface="Cambria" pitchFamily="34" charset="-122"/>
                <a:cs typeface="Cambria" pitchFamily="34" charset="-120"/>
              </a:rPr>
              <a:t>Consommateurs et territoires</a:t>
            </a:r>
            <a:endParaRPr lang="en-US" sz="1650" dirty="0"/>
          </a:p>
        </p:txBody>
      </p:sp>
      <p:sp>
        <p:nvSpPr>
          <p:cNvPr id="15" name="Text 13"/>
          <p:cNvSpPr/>
          <p:nvPr/>
        </p:nvSpPr>
        <p:spPr>
          <a:xfrm>
            <a:off x="8558784" y="3785616"/>
            <a:ext cx="3200400" cy="73152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pannes, frais indus et zones non couvertes restent invisibles sans mesure</a:t>
            </a:r>
            <a:endParaRPr lang="en-US" sz="1150" dirty="0"/>
          </a:p>
        </p:txBody>
      </p:sp>
      <p:sp>
        <p:nvSpPr>
          <p:cNvPr id="16" name="Shape 14"/>
          <p:cNvSpPr/>
          <p:nvPr/>
        </p:nvSpPr>
        <p:spPr>
          <a:xfrm>
            <a:off x="502920" y="4937760"/>
            <a:ext cx="11201400" cy="1051560"/>
          </a:xfrm>
          <a:prstGeom prst="roundRect">
            <a:avLst>
              <a:gd name="adj" fmla="val 7826"/>
            </a:avLst>
          </a:prstGeom>
          <a:solidFill>
            <a:srgbClr val="EAF3EE"/>
          </a:solidFill>
          <a:ln/>
        </p:spPr>
      </p:sp>
      <p:sp>
        <p:nvSpPr>
          <p:cNvPr id="17" name="Text 15"/>
          <p:cNvSpPr/>
          <p:nvPr/>
        </p:nvSpPr>
        <p:spPr>
          <a:xfrm>
            <a:off x="731520" y="5047488"/>
            <a:ext cx="10698480" cy="822960"/>
          </a:xfrm>
          <a:prstGeom prst="rect">
            <a:avLst/>
          </a:prstGeom>
          <a:noFill/>
          <a:ln/>
        </p:spPr>
        <p:txBody>
          <a:bodyPr wrap="square" lIns="0" tIns="0" rIns="0" bIns="0" rtlCol="0" anchor="ctr"/>
          <a:lstStyle/>
          <a:p>
            <a:pPr indent="0" marL="0">
              <a:buNone/>
            </a:pPr>
            <a:r>
              <a:rPr lang="en-US" sz="1350" b="1" dirty="0">
                <a:solidFill>
                  <a:srgbClr val="0E5C3F"/>
                </a:solidFill>
                <a:latin typeface="Arial" pitchFamily="34" charset="0"/>
                <a:ea typeface="Arial" pitchFamily="34" charset="-122"/>
                <a:cs typeface="Arial" pitchFamily="34" charset="-120"/>
              </a:rPr>
              <a:t>Le principe fondateur de SUMo : </a:t>
            </a:r>
            <a:pPr indent="0" marL="0">
              <a:buNone/>
            </a:pPr>
            <a:r>
              <a:rPr lang="en-US" sz="1350" dirty="0">
                <a:solidFill>
                  <a:srgbClr val="3A4A42"/>
                </a:solidFill>
                <a:latin typeface="Arial" pitchFamily="34" charset="0"/>
                <a:ea typeface="Arial" pitchFamily="34" charset="-122"/>
                <a:cs typeface="Arial" pitchFamily="34" charset="-120"/>
              </a:rPr>
              <a:t>donner au régulateur sa propre vision des flux — collectée à la source, scellée cryptographiquement, et confrontée à une mesure indépendante. La donnée mesurée prime sur la donnée déclarée.</a:t>
            </a:r>
            <a:endParaRPr lang="en-US" sz="1350" dirty="0"/>
          </a:p>
        </p:txBody>
      </p:sp>
      <p:sp>
        <p:nvSpPr>
          <p:cNvPr id="18" name="Text 16"/>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8229600" cy="411480"/>
          </a:xfrm>
          <a:prstGeom prst="rect">
            <a:avLst/>
          </a:prstGeom>
          <a:noFill/>
          <a:ln/>
        </p:spPr>
        <p:txBody>
          <a:bodyPr wrap="square" lIns="0" tIns="0" rIns="0" bIns="0" rtlCol="0" anchor="ctr"/>
          <a:lstStyle/>
          <a:p>
            <a:pPr indent="0" marL="0">
              <a:buNone/>
            </a:pPr>
            <a:r>
              <a:rPr lang="en-US" sz="1300" b="1" spc="200" kern="0" dirty="0">
                <a:solidFill>
                  <a:srgbClr val="0E5C3F"/>
                </a:solidFill>
                <a:latin typeface="Arial" pitchFamily="34" charset="0"/>
                <a:ea typeface="Arial" pitchFamily="34" charset="-122"/>
                <a:cs typeface="Arial" pitchFamily="34" charset="-120"/>
              </a:rPr>
              <a:t>A · La plateforme en une image</a:t>
            </a:r>
            <a:endParaRPr lang="en-US" sz="1300" dirty="0"/>
          </a:p>
        </p:txBody>
      </p:sp>
      <p:sp>
        <p:nvSpPr>
          <p:cNvPr id="3" name="Text 1"/>
          <p:cNvSpPr/>
          <p:nvPr/>
        </p:nvSpPr>
        <p:spPr>
          <a:xfrm>
            <a:off x="502920" y="822960"/>
            <a:ext cx="11155680" cy="548640"/>
          </a:xfrm>
          <a:prstGeom prst="rect">
            <a:avLst/>
          </a:prstGeom>
          <a:noFill/>
          <a:ln/>
        </p:spPr>
        <p:txBody>
          <a:bodyPr wrap="square" lIns="0" tIns="0" rIns="0" bIns="0" rtlCol="0" anchor="ctr"/>
          <a:lstStyle/>
          <a:p>
            <a:pPr indent="0" marL="0">
              <a:buNone/>
            </a:pPr>
            <a:r>
              <a:rPr lang="en-US" sz="2800" b="1" dirty="0">
                <a:solidFill>
                  <a:srgbClr val="1C2B24"/>
                </a:solidFill>
                <a:latin typeface="Cambria" pitchFamily="34" charset="0"/>
                <a:ea typeface="Cambria" pitchFamily="34" charset="-122"/>
                <a:cs typeface="Cambria" pitchFamily="34" charset="-120"/>
              </a:rPr>
              <a:t>De la transaction brute à la décision du régulateur</a:t>
            </a:r>
            <a:endParaRPr lang="en-US" sz="2800" dirty="0"/>
          </a:p>
        </p:txBody>
      </p:sp>
      <p:sp>
        <p:nvSpPr>
          <p:cNvPr id="4" name="Shape 2"/>
          <p:cNvSpPr/>
          <p:nvPr/>
        </p:nvSpPr>
        <p:spPr>
          <a:xfrm>
            <a:off x="502920" y="1874520"/>
            <a:ext cx="2377440" cy="777240"/>
          </a:xfrm>
          <a:prstGeom prst="chevron">
            <a:avLst/>
          </a:prstGeom>
          <a:solidFill>
            <a:srgbClr val="2F6DB5"/>
          </a:solidFill>
          <a:ln/>
        </p:spPr>
      </p:sp>
      <p:sp>
        <p:nvSpPr>
          <p:cNvPr id="5" name="Text 3"/>
          <p:cNvSpPr/>
          <p:nvPr/>
        </p:nvSpPr>
        <p:spPr>
          <a:xfrm>
            <a:off x="978408" y="1874520"/>
            <a:ext cx="1828800" cy="7772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1 · Sources</a:t>
            </a:r>
            <a:endParaRPr lang="en-US" sz="1150" dirty="0"/>
          </a:p>
        </p:txBody>
      </p:sp>
      <p:sp>
        <p:nvSpPr>
          <p:cNvPr id="6" name="Shape 4"/>
          <p:cNvSpPr/>
          <p:nvPr/>
        </p:nvSpPr>
        <p:spPr>
          <a:xfrm>
            <a:off x="502920" y="2880360"/>
            <a:ext cx="2157984" cy="1965960"/>
          </a:xfrm>
          <a:prstGeom prst="roundRect">
            <a:avLst>
              <a:gd name="adj" fmla="val 4186"/>
            </a:avLst>
          </a:prstGeom>
          <a:solidFill>
            <a:srgbClr val="F1F5F3"/>
          </a:solidFill>
          <a:ln/>
        </p:spPr>
      </p:sp>
      <p:sp>
        <p:nvSpPr>
          <p:cNvPr id="7" name="Text 5"/>
          <p:cNvSpPr/>
          <p:nvPr/>
        </p:nvSpPr>
        <p:spPr>
          <a:xfrm>
            <a:off x="630936" y="3017520"/>
            <a:ext cx="1901952" cy="169164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Opérateurs mobile money, opérateur postal, PSP/fintechs — et les sondes de l'ARCEP</a:t>
            </a:r>
            <a:endParaRPr lang="en-US" sz="1050" dirty="0"/>
          </a:p>
        </p:txBody>
      </p:sp>
      <p:sp>
        <p:nvSpPr>
          <p:cNvPr id="8" name="Shape 6"/>
          <p:cNvSpPr/>
          <p:nvPr/>
        </p:nvSpPr>
        <p:spPr>
          <a:xfrm>
            <a:off x="2816352" y="1874520"/>
            <a:ext cx="2377440" cy="777240"/>
          </a:xfrm>
          <a:prstGeom prst="chevron">
            <a:avLst/>
          </a:prstGeom>
          <a:solidFill>
            <a:srgbClr val="0E5C3F"/>
          </a:solidFill>
          <a:ln/>
        </p:spPr>
      </p:sp>
      <p:sp>
        <p:nvSpPr>
          <p:cNvPr id="9" name="Text 7"/>
          <p:cNvSpPr/>
          <p:nvPr/>
        </p:nvSpPr>
        <p:spPr>
          <a:xfrm>
            <a:off x="3291840" y="1874520"/>
            <a:ext cx="1828800" cy="7772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 · Collecte authentifiée</a:t>
            </a:r>
            <a:endParaRPr lang="en-US" sz="1150" dirty="0"/>
          </a:p>
        </p:txBody>
      </p:sp>
      <p:sp>
        <p:nvSpPr>
          <p:cNvPr id="10" name="Shape 8"/>
          <p:cNvSpPr/>
          <p:nvPr/>
        </p:nvSpPr>
        <p:spPr>
          <a:xfrm>
            <a:off x="2816352" y="2880360"/>
            <a:ext cx="2157984" cy="1965960"/>
          </a:xfrm>
          <a:prstGeom prst="roundRect">
            <a:avLst>
              <a:gd name="adj" fmla="val 4186"/>
            </a:avLst>
          </a:prstGeom>
          <a:solidFill>
            <a:srgbClr val="F1F5F3"/>
          </a:solidFill>
          <a:ln/>
        </p:spPr>
      </p:sp>
      <p:sp>
        <p:nvSpPr>
          <p:cNvPr id="11" name="Text 9"/>
          <p:cNvSpPr/>
          <p:nvPr/>
        </p:nvSpPr>
        <p:spPr>
          <a:xfrm>
            <a:off x="2944368" y="3017520"/>
            <a:ext cx="1901952" cy="169164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Connecteurs signés (ISO 8583, JSON, CSV) ; contrôle de qualité et de complétude à l'entrée</a:t>
            </a:r>
            <a:endParaRPr lang="en-US" sz="1050" dirty="0"/>
          </a:p>
        </p:txBody>
      </p:sp>
      <p:sp>
        <p:nvSpPr>
          <p:cNvPr id="12" name="Shape 10"/>
          <p:cNvSpPr/>
          <p:nvPr/>
        </p:nvSpPr>
        <p:spPr>
          <a:xfrm>
            <a:off x="5129784" y="1874520"/>
            <a:ext cx="2377440" cy="777240"/>
          </a:xfrm>
          <a:prstGeom prst="chevron">
            <a:avLst/>
          </a:prstGeom>
          <a:solidFill>
            <a:srgbClr val="0A3D2B"/>
          </a:solidFill>
          <a:ln/>
        </p:spPr>
      </p:sp>
      <p:sp>
        <p:nvSpPr>
          <p:cNvPr id="13" name="Text 11"/>
          <p:cNvSpPr/>
          <p:nvPr/>
        </p:nvSpPr>
        <p:spPr>
          <a:xfrm>
            <a:off x="5605272" y="1874520"/>
            <a:ext cx="1828800" cy="7772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3 · Registre souverain</a:t>
            </a:r>
            <a:endParaRPr lang="en-US" sz="1150" dirty="0"/>
          </a:p>
        </p:txBody>
      </p:sp>
      <p:sp>
        <p:nvSpPr>
          <p:cNvPr id="14" name="Shape 12"/>
          <p:cNvSpPr/>
          <p:nvPr/>
        </p:nvSpPr>
        <p:spPr>
          <a:xfrm>
            <a:off x="5129784" y="2880360"/>
            <a:ext cx="2157984" cy="1965960"/>
          </a:xfrm>
          <a:prstGeom prst="roundRect">
            <a:avLst>
              <a:gd name="adj" fmla="val 4186"/>
            </a:avLst>
          </a:prstGeom>
          <a:solidFill>
            <a:srgbClr val="F1F5F3"/>
          </a:solidFill>
          <a:ln/>
        </p:spPr>
      </p:sp>
      <p:sp>
        <p:nvSpPr>
          <p:cNvPr id="15" name="Text 13"/>
          <p:cNvSpPr/>
          <p:nvPr/>
        </p:nvSpPr>
        <p:spPr>
          <a:xfrm>
            <a:off x="5257800" y="3017520"/>
            <a:ext cx="1901952" cy="169164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Chaque transaction est normalisée (TDR) puis scellée dans une chaîne signée, infalsifiable</a:t>
            </a:r>
            <a:endParaRPr lang="en-US" sz="1050" dirty="0"/>
          </a:p>
        </p:txBody>
      </p:sp>
      <p:sp>
        <p:nvSpPr>
          <p:cNvPr id="16" name="Shape 14"/>
          <p:cNvSpPr/>
          <p:nvPr/>
        </p:nvSpPr>
        <p:spPr>
          <a:xfrm>
            <a:off x="7443216" y="1874520"/>
            <a:ext cx="2377440" cy="777240"/>
          </a:xfrm>
          <a:prstGeom prst="chevron">
            <a:avLst/>
          </a:prstGeom>
          <a:solidFill>
            <a:srgbClr val="E8A93B"/>
          </a:solidFill>
          <a:ln/>
        </p:spPr>
      </p:sp>
      <p:sp>
        <p:nvSpPr>
          <p:cNvPr id="17" name="Text 15"/>
          <p:cNvSpPr/>
          <p:nvPr/>
        </p:nvSpPr>
        <p:spPr>
          <a:xfrm>
            <a:off x="7918704" y="1874520"/>
            <a:ext cx="1828800" cy="7772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4 · Analyse — 17 modules</a:t>
            </a:r>
            <a:endParaRPr lang="en-US" sz="1150" dirty="0"/>
          </a:p>
        </p:txBody>
      </p:sp>
      <p:sp>
        <p:nvSpPr>
          <p:cNvPr id="18" name="Shape 16"/>
          <p:cNvSpPr/>
          <p:nvPr/>
        </p:nvSpPr>
        <p:spPr>
          <a:xfrm>
            <a:off x="7443216" y="2880360"/>
            <a:ext cx="2157984" cy="1965960"/>
          </a:xfrm>
          <a:prstGeom prst="roundRect">
            <a:avLst>
              <a:gd name="adj" fmla="val 4186"/>
            </a:avLst>
          </a:prstGeom>
          <a:solidFill>
            <a:srgbClr val="F1F5F3"/>
          </a:solidFill>
          <a:ln/>
        </p:spPr>
      </p:sp>
      <p:sp>
        <p:nvSpPr>
          <p:cNvPr id="19" name="Text 17"/>
          <p:cNvSpPr/>
          <p:nvPr/>
        </p:nvSpPr>
        <p:spPr>
          <a:xfrm>
            <a:off x="7571232" y="3017520"/>
            <a:ext cx="1901952" cy="169164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Marché, revenus, qualité, fraude, géographie, tiers, réclamations, postal…</a:t>
            </a:r>
            <a:endParaRPr lang="en-US" sz="1050" dirty="0"/>
          </a:p>
        </p:txBody>
      </p:sp>
      <p:sp>
        <p:nvSpPr>
          <p:cNvPr id="20" name="Shape 18"/>
          <p:cNvSpPr/>
          <p:nvPr/>
        </p:nvSpPr>
        <p:spPr>
          <a:xfrm>
            <a:off x="9756648" y="1874520"/>
            <a:ext cx="2377440" cy="777240"/>
          </a:xfrm>
          <a:prstGeom prst="chevron">
            <a:avLst/>
          </a:prstGeom>
          <a:solidFill>
            <a:srgbClr val="B23A3A"/>
          </a:solidFill>
          <a:ln/>
        </p:spPr>
      </p:sp>
      <p:sp>
        <p:nvSpPr>
          <p:cNvPr id="21" name="Text 19"/>
          <p:cNvSpPr/>
          <p:nvPr/>
        </p:nvSpPr>
        <p:spPr>
          <a:xfrm>
            <a:off x="10232136" y="1874520"/>
            <a:ext cx="1828800" cy="7772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5 · Décision</a:t>
            </a:r>
            <a:endParaRPr lang="en-US" sz="1150" dirty="0"/>
          </a:p>
        </p:txBody>
      </p:sp>
      <p:sp>
        <p:nvSpPr>
          <p:cNvPr id="22" name="Shape 20"/>
          <p:cNvSpPr/>
          <p:nvPr/>
        </p:nvSpPr>
        <p:spPr>
          <a:xfrm>
            <a:off x="9756648" y="2880360"/>
            <a:ext cx="2157984" cy="1965960"/>
          </a:xfrm>
          <a:prstGeom prst="roundRect">
            <a:avLst>
              <a:gd name="adj" fmla="val 4186"/>
            </a:avLst>
          </a:prstGeom>
          <a:solidFill>
            <a:srgbClr val="F1F5F3"/>
          </a:solidFill>
          <a:ln/>
        </p:spPr>
      </p:sp>
      <p:sp>
        <p:nvSpPr>
          <p:cNvPr id="23" name="Text 21"/>
          <p:cNvSpPr/>
          <p:nvPr/>
        </p:nvSpPr>
        <p:spPr>
          <a:xfrm>
            <a:off x="9884664" y="3017520"/>
            <a:ext cx="1901952" cy="169164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Tableaux de bord par profil, alertes, procédures contradictoires, rapports signés, bulletin public</a:t>
            </a:r>
            <a:endParaRPr lang="en-US" sz="1050" dirty="0"/>
          </a:p>
        </p:txBody>
      </p:sp>
      <p:sp>
        <p:nvSpPr>
          <p:cNvPr id="24" name="Shape 22"/>
          <p:cNvSpPr/>
          <p:nvPr/>
        </p:nvSpPr>
        <p:spPr>
          <a:xfrm>
            <a:off x="502920" y="5257800"/>
            <a:ext cx="11201400" cy="868680"/>
          </a:xfrm>
          <a:prstGeom prst="roundRect">
            <a:avLst>
              <a:gd name="adj" fmla="val 9474"/>
            </a:avLst>
          </a:prstGeom>
          <a:solidFill>
            <a:srgbClr val="EAF3EE"/>
          </a:solidFill>
          <a:ln/>
        </p:spPr>
      </p:sp>
      <p:sp>
        <p:nvSpPr>
          <p:cNvPr id="25" name="Text 23"/>
          <p:cNvSpPr/>
          <p:nvPr/>
        </p:nvSpPr>
        <p:spPr>
          <a:xfrm>
            <a:off x="731520" y="5358384"/>
            <a:ext cx="10698480" cy="658368"/>
          </a:xfrm>
          <a:prstGeom prst="rect">
            <a:avLst/>
          </a:prstGeom>
          <a:noFill/>
          <a:ln/>
        </p:spPr>
        <p:txBody>
          <a:bodyPr wrap="square" lIns="0" tIns="0" rIns="0" bIns="0" rtlCol="0" anchor="ctr"/>
          <a:lstStyle/>
          <a:p>
            <a:pPr indent="0" marL="0">
              <a:buNone/>
            </a:pPr>
            <a:r>
              <a:rPr lang="en-US" sz="1300" b="1" dirty="0">
                <a:solidFill>
                  <a:srgbClr val="0E5C3F"/>
                </a:solidFill>
                <a:latin typeface="Arial" pitchFamily="34" charset="0"/>
                <a:ea typeface="Arial" pitchFamily="34" charset="-122"/>
                <a:cs typeface="Arial" pitchFamily="34" charset="-120"/>
              </a:rPr>
              <a:t>Ce qui rend l'ensemble opposable : </a:t>
            </a:r>
            <a:pPr indent="0" marL="0">
              <a:buNone/>
            </a:pPr>
            <a:r>
              <a:rPr lang="en-US" sz="1300" dirty="0">
                <a:solidFill>
                  <a:srgbClr val="3A4A42"/>
                </a:solidFill>
                <a:latin typeface="Arial" pitchFamily="34" charset="0"/>
                <a:ea typeface="Arial" pitchFamily="34" charset="-122"/>
                <a:cs typeface="Arial" pitchFamily="34" charset="-120"/>
              </a:rPr>
              <a:t>chaque maillon laisse une trace signée — l'enregistrement de la transaction, la mesure de la sonde, l'action de l'agent, l'export du rapport. Rien ne peut être modifié après coup sans que cela se voie.</a:t>
            </a:r>
            <a:endParaRPr lang="en-US" sz="1300" dirty="0"/>
          </a:p>
        </p:txBody>
      </p:sp>
      <p:sp>
        <p:nvSpPr>
          <p:cNvPr id="26" name="Text 24"/>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8229600" cy="411480"/>
          </a:xfrm>
          <a:prstGeom prst="rect">
            <a:avLst/>
          </a:prstGeom>
          <a:noFill/>
          <a:ln/>
        </p:spPr>
        <p:txBody>
          <a:bodyPr wrap="square" lIns="0" tIns="0" rIns="0" bIns="0" rtlCol="0" anchor="ctr"/>
          <a:lstStyle/>
          <a:p>
            <a:pPr indent="0" marL="0">
              <a:buNone/>
            </a:pPr>
            <a:r>
              <a:rPr lang="en-US" sz="1300" b="1" spc="200" kern="0" dirty="0">
                <a:solidFill>
                  <a:srgbClr val="0E5C3F"/>
                </a:solidFill>
                <a:latin typeface="Arial" pitchFamily="34" charset="0"/>
                <a:ea typeface="Arial" pitchFamily="34" charset="-122"/>
                <a:cs typeface="Arial" pitchFamily="34" charset="-120"/>
              </a:rPr>
              <a:t>A · Les garanties institutionnelles</a:t>
            </a:r>
            <a:endParaRPr lang="en-US" sz="1300" dirty="0"/>
          </a:p>
        </p:txBody>
      </p:sp>
      <p:sp>
        <p:nvSpPr>
          <p:cNvPr id="3" name="Text 1"/>
          <p:cNvSpPr/>
          <p:nvPr/>
        </p:nvSpPr>
        <p:spPr>
          <a:xfrm>
            <a:off x="502920" y="822960"/>
            <a:ext cx="11155680" cy="548640"/>
          </a:xfrm>
          <a:prstGeom prst="rect">
            <a:avLst/>
          </a:prstGeom>
          <a:noFill/>
          <a:ln/>
        </p:spPr>
        <p:txBody>
          <a:bodyPr wrap="square" lIns="0" tIns="0" rIns="0" bIns="0" rtlCol="0" anchor="ctr"/>
          <a:lstStyle/>
          <a:p>
            <a:pPr indent="0" marL="0">
              <a:buNone/>
            </a:pPr>
            <a:r>
              <a:rPr lang="en-US" sz="2800" b="1" dirty="0">
                <a:solidFill>
                  <a:srgbClr val="1C2B24"/>
                </a:solidFill>
                <a:latin typeface="Cambria" pitchFamily="34" charset="0"/>
                <a:ea typeface="Cambria" pitchFamily="34" charset="-122"/>
                <a:cs typeface="Cambria" pitchFamily="34" charset="-120"/>
              </a:rPr>
              <a:t>Quatre engagements structurent la conception</a:t>
            </a:r>
            <a:endParaRPr lang="en-US" sz="2800" dirty="0"/>
          </a:p>
        </p:txBody>
      </p:sp>
      <p:sp>
        <p:nvSpPr>
          <p:cNvPr id="4" name="Shape 2"/>
          <p:cNvSpPr/>
          <p:nvPr/>
        </p:nvSpPr>
        <p:spPr>
          <a:xfrm>
            <a:off x="502920" y="1691640"/>
            <a:ext cx="5486400" cy="2057400"/>
          </a:xfrm>
          <a:prstGeom prst="roundRect">
            <a:avLst>
              <a:gd name="adj" fmla="val 4000"/>
            </a:avLst>
          </a:prstGeom>
          <a:solidFill>
            <a:srgbClr val="F1F5F3"/>
          </a:solidFill>
          <a:ln/>
        </p:spPr>
      </p:sp>
      <p:sp>
        <p:nvSpPr>
          <p:cNvPr id="5" name="Shape 3"/>
          <p:cNvSpPr/>
          <p:nvPr/>
        </p:nvSpPr>
        <p:spPr>
          <a:xfrm>
            <a:off x="758952" y="1947672"/>
            <a:ext cx="530352" cy="530352"/>
          </a:xfrm>
          <a:prstGeom prst="ellipse">
            <a:avLst/>
          </a:prstGeom>
          <a:solidFill>
            <a:srgbClr val="0E5C3F"/>
          </a:solidFill>
          <a:ln/>
        </p:spPr>
      </p:sp>
      <p:sp>
        <p:nvSpPr>
          <p:cNvPr id="6" name="Text 4"/>
          <p:cNvSpPr/>
          <p:nvPr/>
        </p:nvSpPr>
        <p:spPr>
          <a:xfrm>
            <a:off x="758952" y="1929384"/>
            <a:ext cx="53035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a:t>
            </a:r>
            <a:endParaRPr lang="en-US" sz="1800" dirty="0"/>
          </a:p>
        </p:txBody>
      </p:sp>
      <p:sp>
        <p:nvSpPr>
          <p:cNvPr id="7" name="Text 5"/>
          <p:cNvSpPr/>
          <p:nvPr/>
        </p:nvSpPr>
        <p:spPr>
          <a:xfrm>
            <a:off x="1463040" y="1965960"/>
            <a:ext cx="4297680" cy="411480"/>
          </a:xfrm>
          <a:prstGeom prst="rect">
            <a:avLst/>
          </a:prstGeom>
          <a:noFill/>
          <a:ln/>
        </p:spPr>
        <p:txBody>
          <a:bodyPr wrap="square" lIns="0" tIns="0" rIns="0" bIns="0" rtlCol="0" anchor="ctr"/>
          <a:lstStyle/>
          <a:p>
            <a:pPr indent="0" marL="0">
              <a:buNone/>
            </a:pPr>
            <a:r>
              <a:rPr lang="en-US" sz="1700" b="1" dirty="0">
                <a:solidFill>
                  <a:srgbClr val="1C2B24"/>
                </a:solidFill>
                <a:latin typeface="Cambria" pitchFamily="34" charset="0"/>
                <a:ea typeface="Cambria" pitchFamily="34" charset="-122"/>
                <a:cs typeface="Cambria" pitchFamily="34" charset="-120"/>
              </a:rPr>
              <a:t>Souveraineté</a:t>
            </a:r>
            <a:endParaRPr lang="en-US" sz="1700" dirty="0"/>
          </a:p>
        </p:txBody>
      </p:sp>
      <p:sp>
        <p:nvSpPr>
          <p:cNvPr id="8" name="Text 6"/>
          <p:cNvSpPr/>
          <p:nvPr/>
        </p:nvSpPr>
        <p:spPr>
          <a:xfrm>
            <a:off x="795528" y="2560320"/>
            <a:ext cx="4937760" cy="109728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Le registre des transactions appartient à l'État : hébergement national, chaîne signée ECDSA, formats ouverts, réversibilité garantie — aucun enfermement propriétaire.</a:t>
            </a:r>
            <a:endParaRPr lang="en-US" sz="1150" dirty="0"/>
          </a:p>
        </p:txBody>
      </p:sp>
      <p:sp>
        <p:nvSpPr>
          <p:cNvPr id="9" name="Shape 7"/>
          <p:cNvSpPr/>
          <p:nvPr/>
        </p:nvSpPr>
        <p:spPr>
          <a:xfrm>
            <a:off x="6217920" y="1691640"/>
            <a:ext cx="5486400" cy="2057400"/>
          </a:xfrm>
          <a:prstGeom prst="roundRect">
            <a:avLst>
              <a:gd name="adj" fmla="val 4000"/>
            </a:avLst>
          </a:prstGeom>
          <a:solidFill>
            <a:srgbClr val="F1F5F3"/>
          </a:solidFill>
          <a:ln/>
        </p:spPr>
      </p:sp>
      <p:sp>
        <p:nvSpPr>
          <p:cNvPr id="10" name="Shape 8"/>
          <p:cNvSpPr/>
          <p:nvPr/>
        </p:nvSpPr>
        <p:spPr>
          <a:xfrm>
            <a:off x="6473952" y="1947672"/>
            <a:ext cx="530352" cy="530352"/>
          </a:xfrm>
          <a:prstGeom prst="ellipse">
            <a:avLst/>
          </a:prstGeom>
          <a:solidFill>
            <a:srgbClr val="2F6DB5"/>
          </a:solidFill>
          <a:ln/>
        </p:spPr>
      </p:sp>
      <p:sp>
        <p:nvSpPr>
          <p:cNvPr id="11" name="Text 9"/>
          <p:cNvSpPr/>
          <p:nvPr/>
        </p:nvSpPr>
        <p:spPr>
          <a:xfrm>
            <a:off x="6473952" y="1929384"/>
            <a:ext cx="53035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a:t>
            </a:r>
            <a:endParaRPr lang="en-US" sz="1800" dirty="0"/>
          </a:p>
        </p:txBody>
      </p:sp>
      <p:sp>
        <p:nvSpPr>
          <p:cNvPr id="12" name="Text 10"/>
          <p:cNvSpPr/>
          <p:nvPr/>
        </p:nvSpPr>
        <p:spPr>
          <a:xfrm>
            <a:off x="7178040" y="1965960"/>
            <a:ext cx="4297680" cy="411480"/>
          </a:xfrm>
          <a:prstGeom prst="rect">
            <a:avLst/>
          </a:prstGeom>
          <a:noFill/>
          <a:ln/>
        </p:spPr>
        <p:txBody>
          <a:bodyPr wrap="square" lIns="0" tIns="0" rIns="0" bIns="0" rtlCol="0" anchor="ctr"/>
          <a:lstStyle/>
          <a:p>
            <a:pPr indent="0" marL="0">
              <a:buNone/>
            </a:pPr>
            <a:r>
              <a:rPr lang="en-US" sz="1700" b="1" dirty="0">
                <a:solidFill>
                  <a:srgbClr val="1C2B24"/>
                </a:solidFill>
                <a:latin typeface="Cambria" pitchFamily="34" charset="0"/>
                <a:ea typeface="Cambria" pitchFamily="34" charset="-122"/>
                <a:cs typeface="Cambria" pitchFamily="34" charset="-120"/>
              </a:rPr>
              <a:t>Indépendance</a:t>
            </a:r>
            <a:endParaRPr lang="en-US" sz="1700" dirty="0"/>
          </a:p>
        </p:txBody>
      </p:sp>
      <p:sp>
        <p:nvSpPr>
          <p:cNvPr id="13" name="Text 11"/>
          <p:cNvSpPr/>
          <p:nvPr/>
        </p:nvSpPr>
        <p:spPr>
          <a:xfrm>
            <a:off x="6510528" y="2560320"/>
            <a:ext cx="4937760" cy="109728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Les sondes de l'ARCEP mesurent elles-mêmes la qualité et les frais réels. En cas d'écart avec le déclaré, la mesure prime et une procédure contradictoire écrite s'ouvre.</a:t>
            </a:r>
            <a:endParaRPr lang="en-US" sz="1150" dirty="0"/>
          </a:p>
        </p:txBody>
      </p:sp>
      <p:sp>
        <p:nvSpPr>
          <p:cNvPr id="14" name="Shape 12"/>
          <p:cNvSpPr/>
          <p:nvPr/>
        </p:nvSpPr>
        <p:spPr>
          <a:xfrm>
            <a:off x="502920" y="3931920"/>
            <a:ext cx="5486400" cy="2057400"/>
          </a:xfrm>
          <a:prstGeom prst="roundRect">
            <a:avLst>
              <a:gd name="adj" fmla="val 4000"/>
            </a:avLst>
          </a:prstGeom>
          <a:solidFill>
            <a:srgbClr val="F1F5F3"/>
          </a:solidFill>
          <a:ln/>
        </p:spPr>
      </p:sp>
      <p:sp>
        <p:nvSpPr>
          <p:cNvPr id="15" name="Shape 13"/>
          <p:cNvSpPr/>
          <p:nvPr/>
        </p:nvSpPr>
        <p:spPr>
          <a:xfrm>
            <a:off x="758952" y="4187952"/>
            <a:ext cx="530352" cy="530352"/>
          </a:xfrm>
          <a:prstGeom prst="ellipse">
            <a:avLst/>
          </a:prstGeom>
          <a:solidFill>
            <a:srgbClr val="E8A93B"/>
          </a:solidFill>
          <a:ln/>
        </p:spPr>
      </p:sp>
      <p:sp>
        <p:nvSpPr>
          <p:cNvPr id="16" name="Text 14"/>
          <p:cNvSpPr/>
          <p:nvPr/>
        </p:nvSpPr>
        <p:spPr>
          <a:xfrm>
            <a:off x="758952" y="4169664"/>
            <a:ext cx="53035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a:t>
            </a:r>
            <a:endParaRPr lang="en-US" sz="1800" dirty="0"/>
          </a:p>
        </p:txBody>
      </p:sp>
      <p:sp>
        <p:nvSpPr>
          <p:cNvPr id="17" name="Text 15"/>
          <p:cNvSpPr/>
          <p:nvPr/>
        </p:nvSpPr>
        <p:spPr>
          <a:xfrm>
            <a:off x="1463040" y="4206240"/>
            <a:ext cx="4297680" cy="411480"/>
          </a:xfrm>
          <a:prstGeom prst="rect">
            <a:avLst/>
          </a:prstGeom>
          <a:noFill/>
          <a:ln/>
        </p:spPr>
        <p:txBody>
          <a:bodyPr wrap="square" lIns="0" tIns="0" rIns="0" bIns="0" rtlCol="0" anchor="ctr"/>
          <a:lstStyle/>
          <a:p>
            <a:pPr indent="0" marL="0">
              <a:buNone/>
            </a:pPr>
            <a:r>
              <a:rPr lang="en-US" sz="1700" b="1" dirty="0">
                <a:solidFill>
                  <a:srgbClr val="1C2B24"/>
                </a:solidFill>
                <a:latin typeface="Cambria" pitchFamily="34" charset="0"/>
                <a:ea typeface="Cambria" pitchFamily="34" charset="-122"/>
                <a:cs typeface="Cambria" pitchFamily="34" charset="-120"/>
              </a:rPr>
              <a:t>Protection des citoyens</a:t>
            </a:r>
            <a:endParaRPr lang="en-US" sz="1700" dirty="0"/>
          </a:p>
        </p:txBody>
      </p:sp>
      <p:sp>
        <p:nvSpPr>
          <p:cNvPr id="18" name="Text 16"/>
          <p:cNvSpPr/>
          <p:nvPr/>
        </p:nvSpPr>
        <p:spPr>
          <a:xfrm>
            <a:off x="795528" y="4800600"/>
            <a:ext cx="4937760" cy="109728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Numéros de téléphone masqués partout par défaut (loi n°001/2011) ; le démasquage est réservé aux directions habilitées et chaque accès est journalisé de façon inviolable.</a:t>
            </a:r>
            <a:endParaRPr lang="en-US" sz="1150" dirty="0"/>
          </a:p>
        </p:txBody>
      </p:sp>
      <p:sp>
        <p:nvSpPr>
          <p:cNvPr id="19" name="Shape 17"/>
          <p:cNvSpPr/>
          <p:nvPr/>
        </p:nvSpPr>
        <p:spPr>
          <a:xfrm>
            <a:off x="6217920" y="3931920"/>
            <a:ext cx="5486400" cy="2057400"/>
          </a:xfrm>
          <a:prstGeom prst="roundRect">
            <a:avLst>
              <a:gd name="adj" fmla="val 4000"/>
            </a:avLst>
          </a:prstGeom>
          <a:solidFill>
            <a:srgbClr val="F1F5F3"/>
          </a:solidFill>
          <a:ln/>
        </p:spPr>
      </p:sp>
      <p:sp>
        <p:nvSpPr>
          <p:cNvPr id="20" name="Shape 18"/>
          <p:cNvSpPr/>
          <p:nvPr/>
        </p:nvSpPr>
        <p:spPr>
          <a:xfrm>
            <a:off x="6473952" y="4187952"/>
            <a:ext cx="530352" cy="530352"/>
          </a:xfrm>
          <a:prstGeom prst="ellipse">
            <a:avLst/>
          </a:prstGeom>
          <a:solidFill>
            <a:srgbClr val="B23A3A"/>
          </a:solidFill>
          <a:ln/>
        </p:spPr>
      </p:sp>
      <p:sp>
        <p:nvSpPr>
          <p:cNvPr id="21" name="Text 19"/>
          <p:cNvSpPr/>
          <p:nvPr/>
        </p:nvSpPr>
        <p:spPr>
          <a:xfrm>
            <a:off x="6473952" y="4169664"/>
            <a:ext cx="53035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a:t>
            </a:r>
            <a:endParaRPr lang="en-US" sz="1800" dirty="0"/>
          </a:p>
        </p:txBody>
      </p:sp>
      <p:sp>
        <p:nvSpPr>
          <p:cNvPr id="22" name="Text 20"/>
          <p:cNvSpPr/>
          <p:nvPr/>
        </p:nvSpPr>
        <p:spPr>
          <a:xfrm>
            <a:off x="7178040" y="4206240"/>
            <a:ext cx="4297680" cy="411480"/>
          </a:xfrm>
          <a:prstGeom prst="rect">
            <a:avLst/>
          </a:prstGeom>
          <a:noFill/>
          <a:ln/>
        </p:spPr>
        <p:txBody>
          <a:bodyPr wrap="square" lIns="0" tIns="0" rIns="0" bIns="0" rtlCol="0" anchor="ctr"/>
          <a:lstStyle/>
          <a:p>
            <a:pPr indent="0" marL="0">
              <a:buNone/>
            </a:pPr>
            <a:r>
              <a:rPr lang="en-US" sz="1700" b="1" dirty="0">
                <a:solidFill>
                  <a:srgbClr val="1C2B24"/>
                </a:solidFill>
                <a:latin typeface="Cambria" pitchFamily="34" charset="0"/>
                <a:ea typeface="Cambria" pitchFamily="34" charset="-122"/>
                <a:cs typeface="Cambria" pitchFamily="34" charset="-120"/>
              </a:rPr>
              <a:t>Recettes de l'État</a:t>
            </a:r>
            <a:endParaRPr lang="en-US" sz="1700" dirty="0"/>
          </a:p>
        </p:txBody>
      </p:sp>
      <p:sp>
        <p:nvSpPr>
          <p:cNvPr id="23" name="Text 21"/>
          <p:cNvSpPr/>
          <p:nvPr/>
        </p:nvSpPr>
        <p:spPr>
          <a:xfrm>
            <a:off x="6510528" y="4800600"/>
            <a:ext cx="4937760" cy="1097280"/>
          </a:xfrm>
          <a:prstGeom prst="rect">
            <a:avLst/>
          </a:prstGeom>
          <a:noFill/>
          <a:ln/>
        </p:spPr>
        <p:txBody>
          <a:bodyPr wrap="square" lIns="0" tIns="0" rIns="0" bIns="0" rtlCol="0" anchor="ctr"/>
          <a:lstStyle/>
          <a:p>
            <a:pPr indent="0" marL="0">
              <a:buNone/>
            </a:pPr>
            <a:r>
              <a:rPr lang="en-US" sz="1150" dirty="0">
                <a:solidFill>
                  <a:srgbClr val="3A4A42"/>
                </a:solidFill>
                <a:latin typeface="Arial" pitchFamily="34" charset="0"/>
                <a:ea typeface="Arial" pitchFamily="34" charset="-122"/>
                <a:cs typeface="Arial" pitchFamily="34" charset="-120"/>
              </a:rPr>
              <a:t>Les frais attendus sont recalculés depuis la grille tarifaire officielle et comparés aux frais déclarés : les sous-déclarations deviennent visibles, l'assiette des redevances devient vérifiable.</a:t>
            </a:r>
            <a:endParaRPr lang="en-US" sz="1150" dirty="0"/>
          </a:p>
        </p:txBody>
      </p:sp>
      <p:sp>
        <p:nvSpPr>
          <p:cNvPr id="24" name="Text 22"/>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8229600" cy="411480"/>
          </a:xfrm>
          <a:prstGeom prst="rect">
            <a:avLst/>
          </a:prstGeom>
          <a:noFill/>
          <a:ln/>
        </p:spPr>
        <p:txBody>
          <a:bodyPr wrap="square" lIns="0" tIns="0" rIns="0" bIns="0" rtlCol="0" anchor="ctr"/>
          <a:lstStyle/>
          <a:p>
            <a:pPr indent="0" marL="0">
              <a:buNone/>
            </a:pPr>
            <a:r>
              <a:rPr lang="en-US" sz="1300" b="1" spc="200" kern="0" dirty="0">
                <a:solidFill>
                  <a:srgbClr val="0E5C3F"/>
                </a:solidFill>
                <a:latin typeface="Arial" pitchFamily="34" charset="0"/>
                <a:ea typeface="Arial" pitchFamily="34" charset="-122"/>
                <a:cs typeface="Arial" pitchFamily="34" charset="-120"/>
              </a:rPr>
              <a:t>A · Le périmètre et les institutions</a:t>
            </a:r>
            <a:endParaRPr lang="en-US" sz="1300" dirty="0"/>
          </a:p>
        </p:txBody>
      </p:sp>
      <p:sp>
        <p:nvSpPr>
          <p:cNvPr id="3" name="Text 1"/>
          <p:cNvSpPr/>
          <p:nvPr/>
        </p:nvSpPr>
        <p:spPr>
          <a:xfrm>
            <a:off x="502920" y="822960"/>
            <a:ext cx="11247120" cy="548640"/>
          </a:xfrm>
          <a:prstGeom prst="rect">
            <a:avLst/>
          </a:prstGeom>
          <a:noFill/>
          <a:ln/>
        </p:spPr>
        <p:txBody>
          <a:bodyPr wrap="square" lIns="0" tIns="0" rIns="0" bIns="0" rtlCol="0" anchor="ctr"/>
          <a:lstStyle/>
          <a:p>
            <a:pPr indent="0" marL="0">
              <a:buNone/>
            </a:pPr>
            <a:r>
              <a:rPr lang="en-US" sz="2600" b="1" dirty="0">
                <a:solidFill>
                  <a:srgbClr val="1C2B24"/>
                </a:solidFill>
                <a:latin typeface="Cambria" pitchFamily="34" charset="0"/>
                <a:ea typeface="Cambria" pitchFamily="34" charset="-122"/>
                <a:cs typeface="Cambria" pitchFamily="34" charset="-120"/>
              </a:rPr>
              <a:t>Chacun dans son mandat — l'ARCEP supervise la couche communications</a:t>
            </a:r>
            <a:endParaRPr lang="en-US" sz="2600" dirty="0"/>
          </a:p>
        </p:txBody>
      </p:sp>
      <p:sp>
        <p:nvSpPr>
          <p:cNvPr id="4" name="Shape 2"/>
          <p:cNvSpPr/>
          <p:nvPr/>
        </p:nvSpPr>
        <p:spPr>
          <a:xfrm>
            <a:off x="502920" y="1645920"/>
            <a:ext cx="6035040" cy="4343400"/>
          </a:xfrm>
          <a:prstGeom prst="roundRect">
            <a:avLst>
              <a:gd name="adj" fmla="val 1895"/>
            </a:avLst>
          </a:prstGeom>
          <a:solidFill>
            <a:srgbClr val="EAF3EE"/>
          </a:solidFill>
          <a:ln/>
        </p:spPr>
      </p:sp>
      <p:sp>
        <p:nvSpPr>
          <p:cNvPr id="5" name="Text 3"/>
          <p:cNvSpPr/>
          <p:nvPr/>
        </p:nvSpPr>
        <p:spPr>
          <a:xfrm>
            <a:off x="777240" y="1828800"/>
            <a:ext cx="5486400" cy="320040"/>
          </a:xfrm>
          <a:prstGeom prst="rect">
            <a:avLst/>
          </a:prstGeom>
          <a:noFill/>
          <a:ln/>
        </p:spPr>
        <p:txBody>
          <a:bodyPr wrap="square" lIns="0" tIns="0" rIns="0" bIns="0" rtlCol="0" anchor="ctr"/>
          <a:lstStyle/>
          <a:p>
            <a:pPr indent="0" marL="0">
              <a:buNone/>
            </a:pPr>
            <a:r>
              <a:rPr lang="en-US" sz="1250" b="1" dirty="0">
                <a:solidFill>
                  <a:srgbClr val="0E5C3F"/>
                </a:solidFill>
                <a:latin typeface="Arial" pitchFamily="34" charset="0"/>
                <a:ea typeface="Arial" pitchFamily="34" charset="-122"/>
                <a:cs typeface="Arial" pitchFamily="34" charset="-120"/>
              </a:rPr>
              <a:t>DANS LE PÉRIMÈTRE ARCEP (P1–P7)</a:t>
            </a:r>
            <a:endParaRPr lang="en-US" sz="1250" dirty="0"/>
          </a:p>
        </p:txBody>
      </p:sp>
      <p:sp>
        <p:nvSpPr>
          <p:cNvPr id="6" name="Text 4"/>
          <p:cNvSpPr/>
          <p:nvPr/>
        </p:nvSpPr>
        <p:spPr>
          <a:xfrm>
            <a:off x="777240" y="2240280"/>
            <a:ext cx="5486400" cy="35661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Qualité et disponibilité des canaux (USSD, application, API, SMS)</a:t>
            </a:r>
            <a:endParaRPr lang="en-US" sz="1250" dirty="0"/>
          </a:p>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Accès et tarifs de gros des canaux pour les PSP/fintechs — non-discrimination</a:t>
            </a:r>
            <a:endParaRPr lang="en-US" sz="1250" dirty="0"/>
          </a:p>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Transparence tarifaire de bout en bout vers le consommateur</a:t>
            </a:r>
            <a:endParaRPr lang="en-US" sz="1250" dirty="0"/>
          </a:p>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Réclamations consommateurs, corrélées aux incidents techniques</a:t>
            </a:r>
            <a:endParaRPr lang="en-US" sz="1250" dirty="0"/>
          </a:p>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Couverture territoriale et inclusion (réseau de distribution)</a:t>
            </a:r>
            <a:endParaRPr lang="en-US" sz="1250" dirty="0"/>
          </a:p>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Services financiers de l'opérateur postal</a:t>
            </a:r>
            <a:endParaRPr lang="en-US" sz="1250" dirty="0"/>
          </a:p>
          <a:p>
            <a:pPr marL="342900" indent="-342900">
              <a:spcAft>
                <a:spcPts val="800"/>
              </a:spcAft>
              <a:buSzPct val="100000"/>
              <a:buChar char="•"/>
            </a:pPr>
            <a:r>
              <a:rPr lang="en-US" sz="1250" dirty="0">
                <a:solidFill>
                  <a:srgbClr val="3A4A42"/>
                </a:solidFill>
                <a:latin typeface="Arial" pitchFamily="34" charset="0"/>
                <a:ea typeface="Arial" pitchFamily="34" charset="-122"/>
                <a:cs typeface="Arial" pitchFamily="34" charset="-120"/>
              </a:rPr>
              <a:t>Indicateurs consolidés pour les institutions partenaires</a:t>
            </a:r>
            <a:endParaRPr lang="en-US" sz="1250" dirty="0"/>
          </a:p>
        </p:txBody>
      </p:sp>
      <p:sp>
        <p:nvSpPr>
          <p:cNvPr id="7" name="Shape 5"/>
          <p:cNvSpPr/>
          <p:nvPr/>
        </p:nvSpPr>
        <p:spPr>
          <a:xfrm>
            <a:off x="6812280" y="1645920"/>
            <a:ext cx="4892040" cy="4343400"/>
          </a:xfrm>
          <a:prstGeom prst="roundRect">
            <a:avLst>
              <a:gd name="adj" fmla="val 1895"/>
            </a:avLst>
          </a:prstGeom>
          <a:solidFill>
            <a:srgbClr val="F1F5F3"/>
          </a:solidFill>
          <a:ln/>
        </p:spPr>
      </p:sp>
      <p:sp>
        <p:nvSpPr>
          <p:cNvPr id="8" name="Text 6"/>
          <p:cNvSpPr/>
          <p:nvPr/>
        </p:nvSpPr>
        <p:spPr>
          <a:xfrm>
            <a:off x="7086600" y="1828800"/>
            <a:ext cx="4572000" cy="320040"/>
          </a:xfrm>
          <a:prstGeom prst="rect">
            <a:avLst/>
          </a:prstGeom>
          <a:noFill/>
          <a:ln/>
        </p:spPr>
        <p:txBody>
          <a:bodyPr wrap="square" lIns="0" tIns="0" rIns="0" bIns="0" rtlCol="0" anchor="ctr"/>
          <a:lstStyle/>
          <a:p>
            <a:pPr indent="0" marL="0">
              <a:buNone/>
            </a:pPr>
            <a:r>
              <a:rPr lang="en-US" sz="1250" b="1" dirty="0">
                <a:solidFill>
                  <a:srgbClr val="B23A3A"/>
                </a:solidFill>
                <a:latin typeface="Arial" pitchFamily="34" charset="0"/>
                <a:ea typeface="Arial" pitchFamily="34" charset="-122"/>
                <a:cs typeface="Arial" pitchFamily="34" charset="-120"/>
              </a:rPr>
              <a:t>HORS PÉRIMÈTRE — INTERFACES CONVENTIONNÉES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86600" y="2286000"/>
          <a:ext cx="4343400" cy="914400"/>
        </p:xfrm>
        <a:graphic>
          <a:graphicData uri="http://schemas.openxmlformats.org/drawingml/2006/table">
            <a:tbl>
              <a:tblPr/>
              <a:tblGrid>
                <a:gridCol w="1234440"/>
                <a:gridCol w="3108960"/>
              </a:tblGrid>
              <a:tr h="566928">
                <a:tc>
                  <a:txBody>
                    <a:bodyPr/>
                    <a:lstStyle/>
                    <a:p>
                      <a:pPr indent="0" marL="0">
                        <a:buNone/>
                      </a:pPr>
                      <a:r>
                        <a:rPr lang="en-US" sz="1050" b="1" dirty="0">
                          <a:solidFill>
                            <a:srgbClr val="FFFFFF"/>
                          </a:solidFill>
                          <a:latin typeface="Arial" pitchFamily="34" charset="0"/>
                          <a:ea typeface="Arial" pitchFamily="34" charset="-122"/>
                          <a:cs typeface="Arial" pitchFamily="34" charset="-120"/>
                        </a:rPr>
                        <a:t>Institution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Son mandat — ce que SUMo lui fournit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566928">
                <a:tc>
                  <a:txBody>
                    <a:bodyPr/>
                    <a:lstStyle/>
                    <a:p>
                      <a:pPr indent="0" marL="0">
                        <a:buNone/>
                      </a:pPr>
                      <a:r>
                        <a:rPr lang="en-US" sz="1050" dirty="0">
                          <a:solidFill>
                            <a:srgbClr val="3A4A42"/>
                          </a:solidFill>
                          <a:latin typeface="Arial" pitchFamily="34" charset="0"/>
                          <a:ea typeface="Arial" pitchFamily="34" charset="-122"/>
                          <a:cs typeface="Arial" pitchFamily="34" charset="-120"/>
                        </a:rPr>
                        <a:t>BEAC / COBAC</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Agrément et solidité financière des émetteurs — paquets statistiques trimestriels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566928">
                <a:tc>
                  <a:txBody>
                    <a:bodyPr/>
                    <a:lstStyle/>
                    <a:p>
                      <a:pPr indent="0" marL="0">
                        <a:buNone/>
                      </a:pPr>
                      <a:r>
                        <a:rPr lang="en-US" sz="1050" dirty="0">
                          <a:solidFill>
                            <a:srgbClr val="3A4A42"/>
                          </a:solidFill>
                          <a:latin typeface="Arial" pitchFamily="34" charset="0"/>
                          <a:ea typeface="Arial" pitchFamily="34" charset="-122"/>
                          <a:cs typeface="Arial" pitchFamily="34" charset="-120"/>
                        </a:rPr>
                        <a:t>ANIF</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Lutte anti-blanchiment — agrégats techniques anonymisés, jamais de données nominatives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3A4A42"/>
                          </a:solidFill>
                          <a:latin typeface="Arial" pitchFamily="34" charset="0"/>
                          <a:ea typeface="Arial" pitchFamily="34" charset="-122"/>
                          <a:cs typeface="Arial" pitchFamily="34" charset="-120"/>
                        </a:rPr>
                        <a:t>MEF / DGI</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Assiette fiscale — agrégats de frais et écarts déclaré/contrôlé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10" name="Text 7"/>
          <p:cNvSpPr/>
          <p:nvPr/>
        </p:nvSpPr>
        <p:spPr>
          <a:xfrm>
            <a:off x="7086600" y="4937760"/>
            <a:ext cx="4389120" cy="868680"/>
          </a:xfrm>
          <a:prstGeom prst="rect">
            <a:avLst/>
          </a:prstGeom>
          <a:noFill/>
          <a:ln/>
        </p:spPr>
        <p:txBody>
          <a:bodyPr wrap="square" lIns="0" tIns="0" rIns="0" bIns="0" rtlCol="0" anchor="ctr"/>
          <a:lstStyle/>
          <a:p>
            <a:pPr indent="0" marL="0">
              <a:buNone/>
            </a:pPr>
            <a:r>
              <a:rPr lang="en-US" sz="1100" i="1" dirty="0">
                <a:solidFill>
                  <a:srgbClr val="3A4A42"/>
                </a:solidFill>
                <a:latin typeface="Arial" pitchFamily="34" charset="0"/>
                <a:ea typeface="Arial" pitchFamily="34" charset="-122"/>
                <a:cs typeface="Arial" pitchFamily="34" charset="-120"/>
              </a:rPr>
              <a:t>SUMo ne supervise ni la solidité financière des émetteurs, ni la LBC/FT — il s'y interface, dans le cadre de conventions à signer.</a:t>
            </a:r>
            <a:endParaRPr lang="en-US" sz="1100" dirty="0"/>
          </a:p>
        </p:txBody>
      </p:sp>
      <p:sp>
        <p:nvSpPr>
          <p:cNvPr id="11" name="Text 8"/>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11480"/>
            <a:ext cx="8229600" cy="411480"/>
          </a:xfrm>
          <a:prstGeom prst="rect">
            <a:avLst/>
          </a:prstGeom>
          <a:noFill/>
          <a:ln/>
        </p:spPr>
        <p:txBody>
          <a:bodyPr wrap="square" lIns="0" tIns="0" rIns="0" bIns="0" rtlCol="0" anchor="ctr"/>
          <a:lstStyle/>
          <a:p>
            <a:pPr indent="0" marL="0">
              <a:buNone/>
            </a:pPr>
            <a:r>
              <a:rPr lang="en-US" sz="1300" b="1" spc="200" kern="0" dirty="0">
                <a:solidFill>
                  <a:srgbClr val="0E5C3F"/>
                </a:solidFill>
                <a:latin typeface="Arial" pitchFamily="34" charset="0"/>
                <a:ea typeface="Arial" pitchFamily="34" charset="-122"/>
                <a:cs typeface="Arial" pitchFamily="34" charset="-120"/>
              </a:rPr>
              <a:t>A · Avancement et décision proposée</a:t>
            </a:r>
            <a:endParaRPr lang="en-US" sz="1300" dirty="0"/>
          </a:p>
        </p:txBody>
      </p:sp>
      <p:sp>
        <p:nvSpPr>
          <p:cNvPr id="3" name="Text 1"/>
          <p:cNvSpPr/>
          <p:nvPr/>
        </p:nvSpPr>
        <p:spPr>
          <a:xfrm>
            <a:off x="502920" y="822960"/>
            <a:ext cx="11247120" cy="548640"/>
          </a:xfrm>
          <a:prstGeom prst="rect">
            <a:avLst/>
          </a:prstGeom>
          <a:noFill/>
          <a:ln/>
        </p:spPr>
        <p:txBody>
          <a:bodyPr wrap="square" lIns="0" tIns="0" rIns="0" bIns="0" rtlCol="0" anchor="ctr"/>
          <a:lstStyle/>
          <a:p>
            <a:pPr indent="0" marL="0">
              <a:buNone/>
            </a:pPr>
            <a:r>
              <a:rPr lang="en-US" sz="2600" b="1" dirty="0">
                <a:solidFill>
                  <a:srgbClr val="1C2B24"/>
                </a:solidFill>
                <a:latin typeface="Cambria" pitchFamily="34" charset="0"/>
                <a:ea typeface="Cambria" pitchFamily="34" charset="-122"/>
                <a:cs typeface="Cambria" pitchFamily="34" charset="-120"/>
              </a:rPr>
              <a:t>Le prototype est opérationnel — la décision porte sur la phase 0</a:t>
            </a:r>
            <a:endParaRPr lang="en-US" sz="2600" dirty="0"/>
          </a:p>
        </p:txBody>
      </p:sp>
      <p:sp>
        <p:nvSpPr>
          <p:cNvPr id="4" name="Shape 2"/>
          <p:cNvSpPr/>
          <p:nvPr/>
        </p:nvSpPr>
        <p:spPr>
          <a:xfrm>
            <a:off x="502920" y="1645920"/>
            <a:ext cx="2651760" cy="1417320"/>
          </a:xfrm>
          <a:prstGeom prst="roundRect">
            <a:avLst>
              <a:gd name="adj" fmla="val 5806"/>
            </a:avLst>
          </a:prstGeom>
          <a:solidFill>
            <a:srgbClr val="F1F5F3"/>
          </a:solidFill>
          <a:ln/>
        </p:spPr>
      </p:sp>
      <p:sp>
        <p:nvSpPr>
          <p:cNvPr id="5" name="Text 3"/>
          <p:cNvSpPr/>
          <p:nvPr/>
        </p:nvSpPr>
        <p:spPr>
          <a:xfrm>
            <a:off x="685800" y="1737360"/>
            <a:ext cx="2286000" cy="731520"/>
          </a:xfrm>
          <a:prstGeom prst="rect">
            <a:avLst/>
          </a:prstGeom>
          <a:noFill/>
          <a:ln/>
        </p:spPr>
        <p:txBody>
          <a:bodyPr wrap="square" lIns="0" tIns="0" rIns="0" bIns="0" rtlCol="0" anchor="ctr"/>
          <a:lstStyle/>
          <a:p>
            <a:pPr indent="0" marL="0">
              <a:buNone/>
            </a:pPr>
            <a:r>
              <a:rPr lang="en-US" sz="4000" b="1" dirty="0">
                <a:solidFill>
                  <a:srgbClr val="0E5C3F"/>
                </a:solidFill>
                <a:latin typeface="Cambria" pitchFamily="34" charset="0"/>
                <a:ea typeface="Cambria" pitchFamily="34" charset="-122"/>
                <a:cs typeface="Cambria" pitchFamily="34" charset="-120"/>
              </a:rPr>
              <a:t>17</a:t>
            </a:r>
            <a:endParaRPr lang="en-US" sz="4000" dirty="0"/>
          </a:p>
        </p:txBody>
      </p:sp>
      <p:sp>
        <p:nvSpPr>
          <p:cNvPr id="6" name="Text 4"/>
          <p:cNvSpPr/>
          <p:nvPr/>
        </p:nvSpPr>
        <p:spPr>
          <a:xfrm>
            <a:off x="685800" y="2487168"/>
            <a:ext cx="2331720" cy="5029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modules opérationnels</a:t>
            </a:r>
            <a:endParaRPr lang="en-US" sz="1050" dirty="0"/>
          </a:p>
        </p:txBody>
      </p:sp>
      <p:sp>
        <p:nvSpPr>
          <p:cNvPr id="7" name="Shape 5"/>
          <p:cNvSpPr/>
          <p:nvPr/>
        </p:nvSpPr>
        <p:spPr>
          <a:xfrm>
            <a:off x="3383280" y="1645920"/>
            <a:ext cx="2651760" cy="1417320"/>
          </a:xfrm>
          <a:prstGeom prst="roundRect">
            <a:avLst>
              <a:gd name="adj" fmla="val 5806"/>
            </a:avLst>
          </a:prstGeom>
          <a:solidFill>
            <a:srgbClr val="F1F5F3"/>
          </a:solidFill>
          <a:ln/>
        </p:spPr>
      </p:sp>
      <p:sp>
        <p:nvSpPr>
          <p:cNvPr id="8" name="Text 6"/>
          <p:cNvSpPr/>
          <p:nvPr/>
        </p:nvSpPr>
        <p:spPr>
          <a:xfrm>
            <a:off x="3566160" y="1737360"/>
            <a:ext cx="2286000" cy="731520"/>
          </a:xfrm>
          <a:prstGeom prst="rect">
            <a:avLst/>
          </a:prstGeom>
          <a:noFill/>
          <a:ln/>
        </p:spPr>
        <p:txBody>
          <a:bodyPr wrap="square" lIns="0" tIns="0" rIns="0" bIns="0" rtlCol="0" anchor="ctr"/>
          <a:lstStyle/>
          <a:p>
            <a:pPr indent="0" marL="0">
              <a:buNone/>
            </a:pPr>
            <a:r>
              <a:rPr lang="en-US" sz="4000" b="1" dirty="0">
                <a:solidFill>
                  <a:srgbClr val="2F6DB5"/>
                </a:solidFill>
                <a:latin typeface="Cambria" pitchFamily="34" charset="0"/>
                <a:ea typeface="Cambria" pitchFamily="34" charset="-122"/>
                <a:cs typeface="Cambria" pitchFamily="34" charset="-120"/>
              </a:rPr>
              <a:t>68</a:t>
            </a:r>
            <a:endParaRPr lang="en-US" sz="4000" dirty="0"/>
          </a:p>
        </p:txBody>
      </p:sp>
      <p:sp>
        <p:nvSpPr>
          <p:cNvPr id="9" name="Text 7"/>
          <p:cNvSpPr/>
          <p:nvPr/>
        </p:nvSpPr>
        <p:spPr>
          <a:xfrm>
            <a:off x="3566160" y="2487168"/>
            <a:ext cx="2331720" cy="5029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tests automatisés — tous au vert</a:t>
            </a:r>
            <a:endParaRPr lang="en-US" sz="1050" dirty="0"/>
          </a:p>
        </p:txBody>
      </p:sp>
      <p:sp>
        <p:nvSpPr>
          <p:cNvPr id="10" name="Shape 8"/>
          <p:cNvSpPr/>
          <p:nvPr/>
        </p:nvSpPr>
        <p:spPr>
          <a:xfrm>
            <a:off x="6263640" y="1645920"/>
            <a:ext cx="2651760" cy="1417320"/>
          </a:xfrm>
          <a:prstGeom prst="roundRect">
            <a:avLst>
              <a:gd name="adj" fmla="val 5806"/>
            </a:avLst>
          </a:prstGeom>
          <a:solidFill>
            <a:srgbClr val="F1F5F3"/>
          </a:solidFill>
          <a:ln/>
        </p:spPr>
      </p:sp>
      <p:sp>
        <p:nvSpPr>
          <p:cNvPr id="11" name="Text 9"/>
          <p:cNvSpPr/>
          <p:nvPr/>
        </p:nvSpPr>
        <p:spPr>
          <a:xfrm>
            <a:off x="6446520" y="1737360"/>
            <a:ext cx="2286000" cy="731520"/>
          </a:xfrm>
          <a:prstGeom prst="rect">
            <a:avLst/>
          </a:prstGeom>
          <a:noFill/>
          <a:ln/>
        </p:spPr>
        <p:txBody>
          <a:bodyPr wrap="square" lIns="0" tIns="0" rIns="0" bIns="0" rtlCol="0" anchor="ctr"/>
          <a:lstStyle/>
          <a:p>
            <a:pPr indent="0" marL="0">
              <a:buNone/>
            </a:pPr>
            <a:r>
              <a:rPr lang="en-US" sz="4000" b="1" dirty="0">
                <a:solidFill>
                  <a:srgbClr val="E8A93B"/>
                </a:solidFill>
                <a:latin typeface="Cambria" pitchFamily="34" charset="0"/>
                <a:ea typeface="Cambria" pitchFamily="34" charset="-122"/>
                <a:cs typeface="Cambria" pitchFamily="34" charset="-120"/>
              </a:rPr>
              <a:t>3+1</a:t>
            </a:r>
            <a:endParaRPr lang="en-US" sz="4000" dirty="0"/>
          </a:p>
        </p:txBody>
      </p:sp>
      <p:sp>
        <p:nvSpPr>
          <p:cNvPr id="12" name="Text 10"/>
          <p:cNvSpPr/>
          <p:nvPr/>
        </p:nvSpPr>
        <p:spPr>
          <a:xfrm>
            <a:off x="6446520" y="2487168"/>
            <a:ext cx="2331720" cy="5029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opérateurs simulés + poste</a:t>
            </a:r>
            <a:endParaRPr lang="en-US" sz="1050" dirty="0"/>
          </a:p>
        </p:txBody>
      </p:sp>
      <p:sp>
        <p:nvSpPr>
          <p:cNvPr id="13" name="Shape 11"/>
          <p:cNvSpPr/>
          <p:nvPr/>
        </p:nvSpPr>
        <p:spPr>
          <a:xfrm>
            <a:off x="9144000" y="1645920"/>
            <a:ext cx="2651760" cy="1417320"/>
          </a:xfrm>
          <a:prstGeom prst="roundRect">
            <a:avLst>
              <a:gd name="adj" fmla="val 5806"/>
            </a:avLst>
          </a:prstGeom>
          <a:solidFill>
            <a:srgbClr val="F1F5F3"/>
          </a:solidFill>
          <a:ln/>
        </p:spPr>
      </p:sp>
      <p:sp>
        <p:nvSpPr>
          <p:cNvPr id="14" name="Text 12"/>
          <p:cNvSpPr/>
          <p:nvPr/>
        </p:nvSpPr>
        <p:spPr>
          <a:xfrm>
            <a:off x="9326880" y="1737360"/>
            <a:ext cx="2286000" cy="731520"/>
          </a:xfrm>
          <a:prstGeom prst="rect">
            <a:avLst/>
          </a:prstGeom>
          <a:noFill/>
          <a:ln/>
        </p:spPr>
        <p:txBody>
          <a:bodyPr wrap="square" lIns="0" tIns="0" rIns="0" bIns="0" rtlCol="0" anchor="ctr"/>
          <a:lstStyle/>
          <a:p>
            <a:pPr indent="0" marL="0">
              <a:buNone/>
            </a:pPr>
            <a:r>
              <a:rPr lang="en-US" sz="4000" b="1" dirty="0">
                <a:solidFill>
                  <a:srgbClr val="0A3D2B"/>
                </a:solidFill>
                <a:latin typeface="Cambria" pitchFamily="34" charset="0"/>
                <a:ea typeface="Cambria" pitchFamily="34" charset="-122"/>
                <a:cs typeface="Cambria" pitchFamily="34" charset="-120"/>
              </a:rPr>
              <a:t>4</a:t>
            </a:r>
            <a:endParaRPr lang="en-US" sz="4000" dirty="0"/>
          </a:p>
        </p:txBody>
      </p:sp>
      <p:sp>
        <p:nvSpPr>
          <p:cNvPr id="15" name="Text 13"/>
          <p:cNvSpPr/>
          <p:nvPr/>
        </p:nvSpPr>
        <p:spPr>
          <a:xfrm>
            <a:off x="9326880" y="2487168"/>
            <a:ext cx="2331720" cy="5029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niveaux de collecte spécifiés (N0–N4)</a:t>
            </a:r>
            <a:endParaRPr lang="en-US" sz="1050" dirty="0"/>
          </a:p>
        </p:txBody>
      </p:sp>
      <p:sp>
        <p:nvSpPr>
          <p:cNvPr id="16" name="Shape 14"/>
          <p:cNvSpPr/>
          <p:nvPr/>
        </p:nvSpPr>
        <p:spPr>
          <a:xfrm>
            <a:off x="502920" y="3429000"/>
            <a:ext cx="2651760" cy="1600200"/>
          </a:xfrm>
          <a:prstGeom prst="roundRect">
            <a:avLst>
              <a:gd name="adj" fmla="val 5143"/>
            </a:avLst>
          </a:prstGeom>
          <a:solidFill>
            <a:srgbClr val="0E5C3F"/>
          </a:solidFill>
          <a:ln/>
        </p:spPr>
      </p:sp>
      <p:sp>
        <p:nvSpPr>
          <p:cNvPr id="17" name="Text 15"/>
          <p:cNvSpPr/>
          <p:nvPr/>
        </p:nvSpPr>
        <p:spPr>
          <a:xfrm>
            <a:off x="667512" y="3566160"/>
            <a:ext cx="233172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Phase 0 — 3 mois</a:t>
            </a:r>
            <a:endParaRPr lang="en-US" sz="1250" dirty="0"/>
          </a:p>
        </p:txBody>
      </p:sp>
      <p:sp>
        <p:nvSpPr>
          <p:cNvPr id="18" name="Text 16"/>
          <p:cNvSpPr/>
          <p:nvPr/>
        </p:nvSpPr>
        <p:spPr>
          <a:xfrm>
            <a:off x="667512" y="3950208"/>
            <a:ext cx="2331720" cy="960120"/>
          </a:xfrm>
          <a:prstGeom prst="rect">
            <a:avLst/>
          </a:prstGeom>
          <a:noFill/>
          <a:ln/>
        </p:spPr>
        <p:txBody>
          <a:bodyPr wrap="square" lIns="0" tIns="0" rIns="0" bIns="0" rtlCol="0" anchor="ctr"/>
          <a:lstStyle/>
          <a:p>
            <a:pPr indent="0" marL="0">
              <a:buNone/>
            </a:pPr>
            <a:r>
              <a:rPr lang="en-US" sz="1050" dirty="0">
                <a:solidFill>
                  <a:srgbClr val="E9F2EC"/>
                </a:solidFill>
                <a:latin typeface="Arial" pitchFamily="34" charset="0"/>
                <a:ea typeface="Arial" pitchFamily="34" charset="-122"/>
                <a:cs typeface="Arial" pitchFamily="34" charset="-120"/>
              </a:rPr>
              <a:t>Déclaratif + sondes pilotes (4 sites) ; premier bulletin public d'indicateurs</a:t>
            </a:r>
            <a:endParaRPr lang="en-US" sz="1050" dirty="0"/>
          </a:p>
        </p:txBody>
      </p:sp>
      <p:sp>
        <p:nvSpPr>
          <p:cNvPr id="19" name="Shape 17"/>
          <p:cNvSpPr/>
          <p:nvPr/>
        </p:nvSpPr>
        <p:spPr>
          <a:xfrm>
            <a:off x="3383280" y="3429000"/>
            <a:ext cx="2651760" cy="1600200"/>
          </a:xfrm>
          <a:prstGeom prst="roundRect">
            <a:avLst>
              <a:gd name="adj" fmla="val 5143"/>
            </a:avLst>
          </a:prstGeom>
          <a:solidFill>
            <a:srgbClr val="F1F5F3"/>
          </a:solidFill>
          <a:ln/>
        </p:spPr>
      </p:sp>
      <p:sp>
        <p:nvSpPr>
          <p:cNvPr id="20" name="Text 18"/>
          <p:cNvSpPr/>
          <p:nvPr/>
        </p:nvSpPr>
        <p:spPr>
          <a:xfrm>
            <a:off x="3547872" y="3566160"/>
            <a:ext cx="2331720" cy="365760"/>
          </a:xfrm>
          <a:prstGeom prst="rect">
            <a:avLst/>
          </a:prstGeom>
          <a:noFill/>
          <a:ln/>
        </p:spPr>
        <p:txBody>
          <a:bodyPr wrap="square" lIns="0" tIns="0" rIns="0" bIns="0" rtlCol="0" anchor="ctr"/>
          <a:lstStyle/>
          <a:p>
            <a:pPr indent="0" marL="0">
              <a:buNone/>
            </a:pPr>
            <a:r>
              <a:rPr lang="en-US" sz="1250" b="1" dirty="0">
                <a:solidFill>
                  <a:srgbClr val="1C2B24"/>
                </a:solidFill>
                <a:latin typeface="Arial" pitchFamily="34" charset="0"/>
                <a:ea typeface="Arial" pitchFamily="34" charset="-122"/>
                <a:cs typeface="Arial" pitchFamily="34" charset="-120"/>
              </a:rPr>
              <a:t>Phase 1 — 6 mois</a:t>
            </a:r>
            <a:endParaRPr lang="en-US" sz="1250" dirty="0"/>
          </a:p>
        </p:txBody>
      </p:sp>
      <p:sp>
        <p:nvSpPr>
          <p:cNvPr id="21" name="Text 19"/>
          <p:cNvSpPr/>
          <p:nvPr/>
        </p:nvSpPr>
        <p:spPr>
          <a:xfrm>
            <a:off x="3547872" y="3950208"/>
            <a:ext cx="2331720" cy="9601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Collecte détaillée quotidienne pseudonymisée (AIPD validée)</a:t>
            </a:r>
            <a:endParaRPr lang="en-US" sz="1050" dirty="0"/>
          </a:p>
        </p:txBody>
      </p:sp>
      <p:sp>
        <p:nvSpPr>
          <p:cNvPr id="22" name="Shape 20"/>
          <p:cNvSpPr/>
          <p:nvPr/>
        </p:nvSpPr>
        <p:spPr>
          <a:xfrm>
            <a:off x="6263640" y="3429000"/>
            <a:ext cx="2651760" cy="1600200"/>
          </a:xfrm>
          <a:prstGeom prst="roundRect">
            <a:avLst>
              <a:gd name="adj" fmla="val 5143"/>
            </a:avLst>
          </a:prstGeom>
          <a:solidFill>
            <a:srgbClr val="F1F5F3"/>
          </a:solidFill>
          <a:ln/>
        </p:spPr>
      </p:sp>
      <p:sp>
        <p:nvSpPr>
          <p:cNvPr id="23" name="Text 21"/>
          <p:cNvSpPr/>
          <p:nvPr/>
        </p:nvSpPr>
        <p:spPr>
          <a:xfrm>
            <a:off x="6428232" y="3566160"/>
            <a:ext cx="2331720" cy="365760"/>
          </a:xfrm>
          <a:prstGeom prst="rect">
            <a:avLst/>
          </a:prstGeom>
          <a:noFill/>
          <a:ln/>
        </p:spPr>
        <p:txBody>
          <a:bodyPr wrap="square" lIns="0" tIns="0" rIns="0" bIns="0" rtlCol="0" anchor="ctr"/>
          <a:lstStyle/>
          <a:p>
            <a:pPr indent="0" marL="0">
              <a:buNone/>
            </a:pPr>
            <a:r>
              <a:rPr lang="en-US" sz="1250" b="1" dirty="0">
                <a:solidFill>
                  <a:srgbClr val="1C2B24"/>
                </a:solidFill>
                <a:latin typeface="Arial" pitchFamily="34" charset="0"/>
                <a:ea typeface="Arial" pitchFamily="34" charset="-122"/>
                <a:cs typeface="Arial" pitchFamily="34" charset="-120"/>
              </a:rPr>
              <a:t>Phase 2 — 9 mois</a:t>
            </a:r>
            <a:endParaRPr lang="en-US" sz="1250" dirty="0"/>
          </a:p>
        </p:txBody>
      </p:sp>
      <p:sp>
        <p:nvSpPr>
          <p:cNvPr id="24" name="Text 22"/>
          <p:cNvSpPr/>
          <p:nvPr/>
        </p:nvSpPr>
        <p:spPr>
          <a:xfrm>
            <a:off x="6428232" y="3950208"/>
            <a:ext cx="2331720" cy="9601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Sondes dans les 9 provinces, campagnes d'agents mystères, contradictoires</a:t>
            </a:r>
            <a:endParaRPr lang="en-US" sz="1050" dirty="0"/>
          </a:p>
        </p:txBody>
      </p:sp>
      <p:sp>
        <p:nvSpPr>
          <p:cNvPr id="25" name="Shape 23"/>
          <p:cNvSpPr/>
          <p:nvPr/>
        </p:nvSpPr>
        <p:spPr>
          <a:xfrm>
            <a:off x="9144000" y="3429000"/>
            <a:ext cx="2651760" cy="1600200"/>
          </a:xfrm>
          <a:prstGeom prst="roundRect">
            <a:avLst>
              <a:gd name="adj" fmla="val 5143"/>
            </a:avLst>
          </a:prstGeom>
          <a:solidFill>
            <a:srgbClr val="F1F5F3"/>
          </a:solidFill>
          <a:ln/>
        </p:spPr>
      </p:sp>
      <p:sp>
        <p:nvSpPr>
          <p:cNvPr id="26" name="Text 24"/>
          <p:cNvSpPr/>
          <p:nvPr/>
        </p:nvSpPr>
        <p:spPr>
          <a:xfrm>
            <a:off x="9308592" y="3566160"/>
            <a:ext cx="2331720" cy="365760"/>
          </a:xfrm>
          <a:prstGeom prst="rect">
            <a:avLst/>
          </a:prstGeom>
          <a:noFill/>
          <a:ln/>
        </p:spPr>
        <p:txBody>
          <a:bodyPr wrap="square" lIns="0" tIns="0" rIns="0" bIns="0" rtlCol="0" anchor="ctr"/>
          <a:lstStyle/>
          <a:p>
            <a:pPr indent="0" marL="0">
              <a:buNone/>
            </a:pPr>
            <a:r>
              <a:rPr lang="en-US" sz="1250" b="1" dirty="0">
                <a:solidFill>
                  <a:srgbClr val="1C2B24"/>
                </a:solidFill>
                <a:latin typeface="Arial" pitchFamily="34" charset="0"/>
                <a:ea typeface="Arial" pitchFamily="34" charset="-122"/>
                <a:cs typeface="Arial" pitchFamily="34" charset="-120"/>
              </a:rPr>
              <a:t>Phase 3 — 6 mois</a:t>
            </a:r>
            <a:endParaRPr lang="en-US" sz="1250" dirty="0"/>
          </a:p>
        </p:txBody>
      </p:sp>
      <p:sp>
        <p:nvSpPr>
          <p:cNvPr id="27" name="Text 25"/>
          <p:cNvSpPr/>
          <p:nvPr/>
        </p:nvSpPr>
        <p:spPr>
          <a:xfrm>
            <a:off x="9308592" y="3950208"/>
            <a:ext cx="2331720" cy="960120"/>
          </a:xfrm>
          <a:prstGeom prst="rect">
            <a:avLst/>
          </a:prstGeom>
          <a:noFill/>
          <a:ln/>
        </p:spPr>
        <p:txBody>
          <a:bodyPr wrap="square" lIns="0" tIns="0" rIns="0" bIns="0" rtlCol="0" anchor="ctr"/>
          <a:lstStyle/>
          <a:p>
            <a:pPr indent="0" marL="0">
              <a:buNone/>
            </a:pPr>
            <a:r>
              <a:rPr lang="en-US" sz="1050" dirty="0">
                <a:solidFill>
                  <a:srgbClr val="3A4A42"/>
                </a:solidFill>
                <a:latin typeface="Arial" pitchFamily="34" charset="0"/>
                <a:ea typeface="Arial" pitchFamily="34" charset="-122"/>
                <a:cs typeface="Arial" pitchFamily="34" charset="-120"/>
              </a:rPr>
              <a:t>Recoupements externes et conventions BEAC / ANIF / DGI en production</a:t>
            </a:r>
            <a:endParaRPr lang="en-US" sz="1050" dirty="0"/>
          </a:p>
        </p:txBody>
      </p:sp>
      <p:sp>
        <p:nvSpPr>
          <p:cNvPr id="28" name="Shape 26"/>
          <p:cNvSpPr/>
          <p:nvPr/>
        </p:nvSpPr>
        <p:spPr>
          <a:xfrm>
            <a:off x="502920" y="5349240"/>
            <a:ext cx="11201400" cy="868680"/>
          </a:xfrm>
          <a:prstGeom prst="roundRect">
            <a:avLst>
              <a:gd name="adj" fmla="val 9474"/>
            </a:avLst>
          </a:prstGeom>
          <a:solidFill>
            <a:srgbClr val="FDF3E0"/>
          </a:solidFill>
          <a:ln/>
        </p:spPr>
      </p:sp>
      <p:sp>
        <p:nvSpPr>
          <p:cNvPr id="29" name="Text 27"/>
          <p:cNvSpPr/>
          <p:nvPr/>
        </p:nvSpPr>
        <p:spPr>
          <a:xfrm>
            <a:off x="731520" y="5449824"/>
            <a:ext cx="10698480" cy="658368"/>
          </a:xfrm>
          <a:prstGeom prst="rect">
            <a:avLst/>
          </a:prstGeom>
          <a:noFill/>
          <a:ln/>
        </p:spPr>
        <p:txBody>
          <a:bodyPr wrap="square" lIns="0" tIns="0" rIns="0" bIns="0" rtlCol="0" anchor="ctr"/>
          <a:lstStyle/>
          <a:p>
            <a:pPr indent="0" marL="0">
              <a:buNone/>
            </a:pPr>
            <a:r>
              <a:rPr lang="en-US" sz="1300" b="1" dirty="0">
                <a:solidFill>
                  <a:srgbClr val="B07A1E"/>
                </a:solidFill>
                <a:latin typeface="Arial" pitchFamily="34" charset="0"/>
                <a:ea typeface="Arial" pitchFamily="34" charset="-122"/>
                <a:cs typeface="Arial" pitchFamily="34" charset="-120"/>
              </a:rPr>
              <a:t>Décision proposée : </a:t>
            </a:r>
            <a:pPr indent="0" marL="0">
              <a:buNone/>
            </a:pPr>
            <a:r>
              <a:rPr lang="en-US" sz="1300" dirty="0">
                <a:solidFill>
                  <a:srgbClr val="3A4A42"/>
                </a:solidFill>
                <a:latin typeface="Arial" pitchFamily="34" charset="0"/>
                <a:ea typeface="Arial" pitchFamily="34" charset="-122"/>
                <a:cs typeface="Arial" pitchFamily="34" charset="-120"/>
              </a:rPr>
              <a:t>autoriser le lancement de la phase 0 (trois mois, budget limité, aucun développement lourd) — avec pour livrable public le premier bulletin trimestriel d'indicateurs des services financiers numériques.</a:t>
            </a:r>
            <a:endParaRPr lang="en-US" sz="1300" dirty="0"/>
          </a:p>
        </p:txBody>
      </p:sp>
      <p:sp>
        <p:nvSpPr>
          <p:cNvPr id="30" name="Text 28"/>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2F6DB5"/>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La clé de lecture des écrans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À maîtriser avant tout : chaque valeur affichée porte l'étiquette de sa source.</a:t>
            </a:r>
            <a:endParaRPr lang="en-US" sz="1300" dirty="0"/>
          </a:p>
        </p:txBody>
      </p:sp>
      <p:sp>
        <p:nvSpPr>
          <p:cNvPr id="6" name="Shape 4"/>
          <p:cNvSpPr/>
          <p:nvPr/>
        </p:nvSpPr>
        <p:spPr>
          <a:xfrm>
            <a:off x="502920" y="1508760"/>
            <a:ext cx="6675120" cy="804672"/>
          </a:xfrm>
          <a:prstGeom prst="roundRect">
            <a:avLst>
              <a:gd name="adj" fmla="val 10227"/>
            </a:avLst>
          </a:prstGeom>
          <a:solidFill>
            <a:srgbClr val="F1F5F3"/>
          </a:solidFill>
          <a:ln/>
        </p:spPr>
      </p:sp>
      <p:sp>
        <p:nvSpPr>
          <p:cNvPr id="7" name="Shape 5"/>
          <p:cNvSpPr/>
          <p:nvPr/>
        </p:nvSpPr>
        <p:spPr>
          <a:xfrm>
            <a:off x="777240" y="1783080"/>
            <a:ext cx="596189" cy="237744"/>
          </a:xfrm>
          <a:prstGeom prst="roundRect">
            <a:avLst>
              <a:gd name="adj" fmla="val 50000"/>
            </a:avLst>
          </a:prstGeom>
          <a:solidFill>
            <a:srgbClr val="1E7A4F"/>
          </a:solidFill>
          <a:ln/>
        </p:spPr>
      </p:sp>
      <p:sp>
        <p:nvSpPr>
          <p:cNvPr id="8" name="Text 6"/>
          <p:cNvSpPr/>
          <p:nvPr/>
        </p:nvSpPr>
        <p:spPr>
          <a:xfrm>
            <a:off x="777240" y="1773022"/>
            <a:ext cx="596189"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MESURÉ</a:t>
            </a:r>
            <a:endParaRPr lang="en-US" sz="950" dirty="0"/>
          </a:p>
        </p:txBody>
      </p:sp>
      <p:sp>
        <p:nvSpPr>
          <p:cNvPr id="9" name="Text 7"/>
          <p:cNvSpPr/>
          <p:nvPr/>
        </p:nvSpPr>
        <p:spPr>
          <a:xfrm>
            <a:off x="1965960" y="1618488"/>
            <a:ext cx="5029200" cy="594360"/>
          </a:xfrm>
          <a:prstGeom prst="rect">
            <a:avLst/>
          </a:prstGeom>
          <a:noFill/>
          <a:ln/>
        </p:spPr>
        <p:txBody>
          <a:bodyPr wrap="square" lIns="0" tIns="0" rIns="0" bIns="0" rtlCol="0" anchor="ctr"/>
          <a:lstStyle/>
          <a:p>
            <a:pPr indent="0" marL="0">
              <a:buNone/>
            </a:pPr>
            <a:r>
              <a:rPr lang="en-US" sz="1250" dirty="0">
                <a:solidFill>
                  <a:srgbClr val="3A4A42"/>
                </a:solidFill>
                <a:latin typeface="Arial" pitchFamily="34" charset="0"/>
                <a:ea typeface="Arial" pitchFamily="34" charset="-122"/>
                <a:cs typeface="Arial" pitchFamily="34" charset="-120"/>
              </a:rPr>
              <a:t>Constaté par les sondes de l'ARCEP — journal probant signé</a:t>
            </a:r>
            <a:endParaRPr lang="en-US" sz="1250" dirty="0"/>
          </a:p>
        </p:txBody>
      </p:sp>
      <p:sp>
        <p:nvSpPr>
          <p:cNvPr id="10" name="Shape 8"/>
          <p:cNvSpPr/>
          <p:nvPr/>
        </p:nvSpPr>
        <p:spPr>
          <a:xfrm>
            <a:off x="502920" y="2441448"/>
            <a:ext cx="6675120" cy="804672"/>
          </a:xfrm>
          <a:prstGeom prst="roundRect">
            <a:avLst>
              <a:gd name="adj" fmla="val 10227"/>
            </a:avLst>
          </a:prstGeom>
          <a:solidFill>
            <a:srgbClr val="F1F5F3"/>
          </a:solidFill>
          <a:ln/>
        </p:spPr>
      </p:sp>
      <p:sp>
        <p:nvSpPr>
          <p:cNvPr id="11" name="Shape 9"/>
          <p:cNvSpPr/>
          <p:nvPr/>
        </p:nvSpPr>
        <p:spPr>
          <a:xfrm>
            <a:off x="777240" y="2715768"/>
            <a:ext cx="746150" cy="237744"/>
          </a:xfrm>
          <a:prstGeom prst="roundRect">
            <a:avLst>
              <a:gd name="adj" fmla="val 50000"/>
            </a:avLst>
          </a:prstGeom>
          <a:solidFill>
            <a:srgbClr val="2F6DB5"/>
          </a:solidFill>
          <a:ln/>
        </p:spPr>
      </p:sp>
      <p:sp>
        <p:nvSpPr>
          <p:cNvPr id="12" name="Text 10"/>
          <p:cNvSpPr/>
          <p:nvPr/>
        </p:nvSpPr>
        <p:spPr>
          <a:xfrm>
            <a:off x="777240" y="2705710"/>
            <a:ext cx="74615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CONTRÔLÉ</a:t>
            </a:r>
            <a:endParaRPr lang="en-US" sz="950" dirty="0"/>
          </a:p>
        </p:txBody>
      </p:sp>
      <p:sp>
        <p:nvSpPr>
          <p:cNvPr id="13" name="Text 11"/>
          <p:cNvSpPr/>
          <p:nvPr/>
        </p:nvSpPr>
        <p:spPr>
          <a:xfrm>
            <a:off x="1965960" y="2551176"/>
            <a:ext cx="5029200" cy="594360"/>
          </a:xfrm>
          <a:prstGeom prst="rect">
            <a:avLst/>
          </a:prstGeom>
          <a:noFill/>
          <a:ln/>
        </p:spPr>
        <p:txBody>
          <a:bodyPr wrap="square" lIns="0" tIns="0" rIns="0" bIns="0" rtlCol="0" anchor="ctr"/>
          <a:lstStyle/>
          <a:p>
            <a:pPr indent="0" marL="0">
              <a:buNone/>
            </a:pPr>
            <a:r>
              <a:rPr lang="en-US" sz="1250" dirty="0">
                <a:solidFill>
                  <a:srgbClr val="3A4A42"/>
                </a:solidFill>
                <a:latin typeface="Arial" pitchFamily="34" charset="0"/>
                <a:ea typeface="Arial" pitchFamily="34" charset="-122"/>
                <a:cs typeface="Arial" pitchFamily="34" charset="-120"/>
              </a:rPr>
              <a:t>Recalculé par la plateforme depuis les transactions collectées</a:t>
            </a:r>
            <a:endParaRPr lang="en-US" sz="1250" dirty="0"/>
          </a:p>
        </p:txBody>
      </p:sp>
      <p:sp>
        <p:nvSpPr>
          <p:cNvPr id="14" name="Shape 12"/>
          <p:cNvSpPr/>
          <p:nvPr/>
        </p:nvSpPr>
        <p:spPr>
          <a:xfrm>
            <a:off x="502920" y="3374136"/>
            <a:ext cx="6675120" cy="804672"/>
          </a:xfrm>
          <a:prstGeom prst="roundRect">
            <a:avLst>
              <a:gd name="adj" fmla="val 10227"/>
            </a:avLst>
          </a:prstGeom>
          <a:solidFill>
            <a:srgbClr val="F1F5F3"/>
          </a:solidFill>
          <a:ln/>
        </p:spPr>
      </p:sp>
      <p:sp>
        <p:nvSpPr>
          <p:cNvPr id="15" name="Shape 13"/>
          <p:cNvSpPr/>
          <p:nvPr/>
        </p:nvSpPr>
        <p:spPr>
          <a:xfrm>
            <a:off x="777240" y="3648456"/>
            <a:ext cx="671170" cy="237744"/>
          </a:xfrm>
          <a:prstGeom prst="roundRect">
            <a:avLst>
              <a:gd name="adj" fmla="val 50000"/>
            </a:avLst>
          </a:prstGeom>
          <a:solidFill>
            <a:srgbClr val="E8A93B"/>
          </a:solidFill>
          <a:ln/>
        </p:spPr>
      </p:sp>
      <p:sp>
        <p:nvSpPr>
          <p:cNvPr id="16" name="Text 14"/>
          <p:cNvSpPr/>
          <p:nvPr/>
        </p:nvSpPr>
        <p:spPr>
          <a:xfrm>
            <a:off x="777240" y="3638398"/>
            <a:ext cx="67117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DÉCLARÉ</a:t>
            </a:r>
            <a:endParaRPr lang="en-US" sz="950" dirty="0"/>
          </a:p>
        </p:txBody>
      </p:sp>
      <p:sp>
        <p:nvSpPr>
          <p:cNvPr id="17" name="Text 15"/>
          <p:cNvSpPr/>
          <p:nvPr/>
        </p:nvSpPr>
        <p:spPr>
          <a:xfrm>
            <a:off x="1965960" y="3483864"/>
            <a:ext cx="5029200" cy="594360"/>
          </a:xfrm>
          <a:prstGeom prst="rect">
            <a:avLst/>
          </a:prstGeom>
          <a:noFill/>
          <a:ln/>
        </p:spPr>
        <p:txBody>
          <a:bodyPr wrap="square" lIns="0" tIns="0" rIns="0" bIns="0" rtlCol="0" anchor="ctr"/>
          <a:lstStyle/>
          <a:p>
            <a:pPr indent="0" marL="0">
              <a:buNone/>
            </a:pPr>
            <a:r>
              <a:rPr lang="en-US" sz="1250" dirty="0">
                <a:solidFill>
                  <a:srgbClr val="3A4A42"/>
                </a:solidFill>
                <a:latin typeface="Arial" pitchFamily="34" charset="0"/>
                <a:ea typeface="Arial" pitchFamily="34" charset="-122"/>
                <a:cs typeface="Arial" pitchFamily="34" charset="-120"/>
              </a:rPr>
              <a:t>Transmis par l'opérateur — non vérifié, recoupé par la mesure</a:t>
            </a:r>
            <a:endParaRPr lang="en-US" sz="1250" dirty="0"/>
          </a:p>
        </p:txBody>
      </p:sp>
      <p:sp>
        <p:nvSpPr>
          <p:cNvPr id="18" name="Shape 16"/>
          <p:cNvSpPr/>
          <p:nvPr/>
        </p:nvSpPr>
        <p:spPr>
          <a:xfrm>
            <a:off x="502920" y="4389120"/>
            <a:ext cx="6675120" cy="1691640"/>
          </a:xfrm>
          <a:prstGeom prst="roundRect">
            <a:avLst>
              <a:gd name="adj" fmla="val 4865"/>
            </a:avLst>
          </a:prstGeom>
          <a:solidFill>
            <a:srgbClr val="EAF3EE"/>
          </a:solidFill>
          <a:ln/>
        </p:spPr>
      </p:sp>
      <p:sp>
        <p:nvSpPr>
          <p:cNvPr id="19" name="Text 17"/>
          <p:cNvSpPr/>
          <p:nvPr/>
        </p:nvSpPr>
        <p:spPr>
          <a:xfrm>
            <a:off x="749808" y="4553712"/>
            <a:ext cx="6217920" cy="1371600"/>
          </a:xfrm>
          <a:prstGeom prst="rect">
            <a:avLst/>
          </a:prstGeom>
          <a:noFill/>
          <a:ln/>
        </p:spPr>
        <p:txBody>
          <a:bodyPr wrap="square" lIns="0" tIns="0" rIns="0" bIns="0" rtlCol="0" anchor="ctr"/>
          <a:lstStyle/>
          <a:p>
            <a:pPr indent="0" marL="0">
              <a:buNone/>
            </a:pPr>
            <a:r>
              <a:rPr lang="en-US" sz="1250" b="1" dirty="0">
                <a:solidFill>
                  <a:srgbClr val="0E5C3F"/>
                </a:solidFill>
                <a:latin typeface="Arial" pitchFamily="34" charset="0"/>
                <a:ea typeface="Arial" pitchFamily="34" charset="-122"/>
                <a:cs typeface="Arial" pitchFamily="34" charset="-120"/>
              </a:rPr>
              <a:t>La règle d'arbitrage : </a:t>
            </a:r>
            <a:pPr indent="0" marL="0">
              <a:buNone/>
            </a:pPr>
            <a:r>
              <a:rPr lang="en-US" sz="1250" dirty="0">
                <a:solidFill>
                  <a:srgbClr val="3A4A42"/>
                </a:solidFill>
                <a:latin typeface="Arial" pitchFamily="34" charset="0"/>
                <a:ea typeface="Arial" pitchFamily="34" charset="-122"/>
                <a:cs typeface="Arial" pitchFamily="34" charset="-120"/>
              </a:rPr>
              <a:t>quand une valeur MESURÉE contredit une valeur DÉCLARÉE au-delà du seuil (1 point de disponibilité, 20 % sur la latence, tout écart de frais), la plateforme retient la mesure, </a:t>
            </a:r>
            <a:pPr indent="0" marL="0">
              <a:buNone/>
            </a:pPr>
            <a:r>
              <a:rPr lang="en-US" sz="1250" b="1" dirty="0">
                <a:solidFill>
                  <a:srgbClr val="3A4A42"/>
                </a:solidFill>
                <a:latin typeface="Arial" pitchFamily="34" charset="0"/>
                <a:ea typeface="Arial" pitchFamily="34" charset="-122"/>
                <a:cs typeface="Arial" pitchFamily="34" charset="-120"/>
              </a:rPr>
              <a:t>ouvre automatiquement une procédure contradictoire</a:t>
            </a:r>
            <a:pPr indent="0" marL="0">
              <a:buNone/>
            </a:pPr>
            <a:r>
              <a:rPr lang="en-US" sz="1250" dirty="0">
                <a:solidFill>
                  <a:srgbClr val="3A4A42"/>
                </a:solidFill>
                <a:latin typeface="Arial" pitchFamily="34" charset="0"/>
                <a:ea typeface="Arial" pitchFamily="34" charset="-122"/>
                <a:cs typeface="Arial" pitchFamily="34" charset="-120"/>
              </a:rPr>
              <a:t> et trace le dossier dans le module Investigation.</a:t>
            </a:r>
            <a:endParaRPr lang="en-US" sz="1250" dirty="0"/>
          </a:p>
        </p:txBody>
      </p:sp>
      <p:sp>
        <p:nvSpPr>
          <p:cNvPr id="20" name="Shape 18"/>
          <p:cNvSpPr/>
          <p:nvPr/>
        </p:nvSpPr>
        <p:spPr>
          <a:xfrm>
            <a:off x="7452360" y="1508760"/>
            <a:ext cx="4251960" cy="4572000"/>
          </a:xfrm>
          <a:prstGeom prst="roundRect">
            <a:avLst>
              <a:gd name="adj" fmla="val 1935"/>
            </a:avLst>
          </a:prstGeom>
          <a:solidFill>
            <a:srgbClr val="F1F5F3"/>
          </a:solidFill>
          <a:ln/>
        </p:spPr>
      </p:sp>
      <p:sp>
        <p:nvSpPr>
          <p:cNvPr id="21" name="Text 19"/>
          <p:cNvSpPr/>
          <p:nvPr/>
        </p:nvSpPr>
        <p:spPr>
          <a:xfrm>
            <a:off x="7726680" y="1691640"/>
            <a:ext cx="3749040" cy="365760"/>
          </a:xfrm>
          <a:prstGeom prst="rect">
            <a:avLst/>
          </a:prstGeom>
          <a:noFill/>
          <a:ln/>
        </p:spPr>
        <p:txBody>
          <a:bodyPr wrap="square" lIns="0" tIns="0" rIns="0" bIns="0" rtlCol="0" anchor="ctr"/>
          <a:lstStyle/>
          <a:p>
            <a:pPr indent="0" marL="0">
              <a:buNone/>
            </a:pPr>
            <a:r>
              <a:rPr lang="en-US" sz="1600" b="1" dirty="0">
                <a:solidFill>
                  <a:srgbClr val="1C2B24"/>
                </a:solidFill>
                <a:latin typeface="Cambria" pitchFamily="34" charset="0"/>
                <a:ea typeface="Cambria" pitchFamily="34" charset="-122"/>
                <a:cs typeface="Cambria" pitchFamily="34" charset="-120"/>
              </a:rPr>
              <a:t>Trois repères permanents</a:t>
            </a:r>
            <a:endParaRPr lang="en-US" sz="1600" dirty="0"/>
          </a:p>
        </p:txBody>
      </p:sp>
      <p:sp>
        <p:nvSpPr>
          <p:cNvPr id="22" name="Text 20"/>
          <p:cNvSpPr/>
          <p:nvPr/>
        </p:nvSpPr>
        <p:spPr>
          <a:xfrm>
            <a:off x="7726680" y="2148840"/>
            <a:ext cx="3749040" cy="3749040"/>
          </a:xfrm>
          <a:prstGeom prst="rect">
            <a:avLst/>
          </a:prstGeom>
          <a:noFill/>
          <a:ln/>
        </p:spPr>
        <p:txBody>
          <a:bodyPr wrap="square" lIns="0" tIns="0" rIns="0" bIns="0" rtlCol="0" anchor="ctr"/>
          <a:lstStyle/>
          <a:p>
            <a:pPr indent="0" marL="0">
              <a:buNone/>
            </a:pPr>
            <a:r>
              <a:rPr lang="en-US" sz="1200" b="1" dirty="0">
                <a:solidFill>
                  <a:srgbClr val="3A4A42"/>
                </a:solidFill>
                <a:latin typeface="Arial" pitchFamily="34" charset="0"/>
                <a:ea typeface="Arial" pitchFamily="34" charset="-122"/>
                <a:cs typeface="Arial" pitchFamily="34" charset="-120"/>
              </a:rPr>
              <a:t>Numéros masqués : </a:t>
            </a:r>
            <a:pPr indent="0" marL="0">
              <a:buNone/>
            </a:pPr>
            <a:r>
              <a:rPr lang="en-US" sz="1200" dirty="0">
                <a:solidFill>
                  <a:srgbClr val="3A4A42"/>
                </a:solidFill>
                <a:latin typeface="Arial" pitchFamily="34" charset="0"/>
                <a:ea typeface="Arial" pitchFamily="34" charset="-122"/>
                <a:cs typeface="Arial" pitchFamily="34" charset="-120"/>
              </a:rPr>
              <a:t>+241074****56 partout ; le démasquage est un privilège journalisé.</a:t>
            </a:r>
            <a:endParaRPr lang="en-US" sz="1200" dirty="0"/>
          </a:p>
          <a:p>
            <a:pPr indent="0" marL="0">
              <a:buNone/>
            </a:pPr>
            <a:endParaRPr lang="en-US" sz="1200" dirty="0"/>
          </a:p>
          <a:p>
            <a:pPr indent="0" marL="0">
              <a:buNone/>
            </a:pPr>
            <a:r>
              <a:rPr lang="en-US" sz="1200" b="1" dirty="0">
                <a:solidFill>
                  <a:srgbClr val="3A4A42"/>
                </a:solidFill>
                <a:latin typeface="Arial" pitchFamily="34" charset="0"/>
                <a:ea typeface="Arial" pitchFamily="34" charset="-122"/>
                <a:cs typeface="Arial" pitchFamily="34" charset="-120"/>
              </a:rPr>
              <a:t>Registre signé : </a:t>
            </a:r>
            <a:endParaRPr lang="en-US" sz="1200" dirty="0"/>
          </a:p>
          <a:p>
            <a:pPr indent="0" marL="0">
              <a:buNone/>
            </a:pPr>
            <a:r>
              <a:rPr lang="en-US" sz="1200" dirty="0">
                <a:solidFill>
                  <a:srgbClr val="3A4A42"/>
                </a:solidFill>
                <a:latin typeface="Arial" pitchFamily="34" charset="0"/>
                <a:ea typeface="Arial" pitchFamily="34" charset="-122"/>
                <a:cs typeface="Arial" pitchFamily="34" charset="-120"/>
              </a:rPr>
              <a:t>chaque ligne de transaction porte son numéro d'ordre et son empreinte de chaîne.</a:t>
            </a:r>
            <a:endParaRPr lang="en-US" sz="1200" dirty="0"/>
          </a:p>
          <a:p>
            <a:pPr indent="0" marL="0">
              <a:buNone/>
            </a:pPr>
            <a:endParaRPr lang="en-US" sz="1200" dirty="0"/>
          </a:p>
          <a:p>
            <a:pPr indent="0" marL="0">
              <a:buNone/>
            </a:pPr>
            <a:r>
              <a:rPr lang="en-US" sz="1200" b="1" dirty="0">
                <a:solidFill>
                  <a:srgbClr val="3A4A42"/>
                </a:solidFill>
                <a:latin typeface="Arial" pitchFamily="34" charset="0"/>
                <a:ea typeface="Arial" pitchFamily="34" charset="-122"/>
                <a:cs typeface="Arial" pitchFamily="34" charset="-120"/>
              </a:rPr>
              <a:t>Cloisonnement : </a:t>
            </a:r>
            <a:endParaRPr lang="en-US" sz="1200" dirty="0"/>
          </a:p>
          <a:p>
            <a:pPr indent="0" marL="0">
              <a:buNone/>
            </a:pPr>
            <a:r>
              <a:rPr lang="en-US" sz="1200" dirty="0">
                <a:solidFill>
                  <a:srgbClr val="3A4A42"/>
                </a:solidFill>
                <a:latin typeface="Arial" pitchFamily="34" charset="0"/>
                <a:ea typeface="Arial" pitchFamily="34" charset="-122"/>
                <a:cs typeface="Arial" pitchFamily="34" charset="-120"/>
              </a:rPr>
              <a:t>un opérateur connecté ne voit que ses propres flux ; les directions ne voient que leurs modules dispatchés.</a:t>
            </a:r>
            <a:endParaRPr lang="en-US" sz="1200" dirty="0"/>
          </a:p>
        </p:txBody>
      </p:sp>
      <p:sp>
        <p:nvSpPr>
          <p:cNvPr id="23" name="Text 21"/>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E5C3F"/>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OBS</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Observatoire, opérateurs &amp; géolocalisation</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Modules « Observatoire », « Opérateurs &amp; moteurs », « Géolocalisation » — statistiques de marché en temps réel.</a:t>
            </a:r>
            <a:endParaRPr lang="en-US" sz="1300" dirty="0"/>
          </a:p>
        </p:txBody>
      </p:sp>
      <p:sp>
        <p:nvSpPr>
          <p:cNvPr id="6" name="Text 4"/>
          <p:cNvSpPr/>
          <p:nvPr/>
        </p:nvSpPr>
        <p:spPr>
          <a:xfrm>
            <a:off x="502920" y="1417320"/>
            <a:ext cx="5486400" cy="320040"/>
          </a:xfrm>
          <a:prstGeom prst="rect">
            <a:avLst/>
          </a:prstGeom>
          <a:noFill/>
          <a:ln/>
        </p:spPr>
        <p:txBody>
          <a:bodyPr wrap="square" lIns="0" tIns="0" rIns="0" bIns="0" rtlCol="0" anchor="ctr"/>
          <a:lstStyle/>
          <a:p>
            <a:pPr indent="0" marL="0">
              <a:buNone/>
            </a:pPr>
            <a:r>
              <a:rPr lang="en-US" sz="1300" b="1" dirty="0">
                <a:solidFill>
                  <a:srgbClr val="0E5C3F"/>
                </a:solidFill>
                <a:latin typeface="Arial" pitchFamily="34" charset="0"/>
                <a:ea typeface="Arial" pitchFamily="34" charset="-122"/>
                <a:cs typeface="Arial" pitchFamily="34" charset="-120"/>
              </a:rPr>
              <a:t>Ce que montrent les écrans</a:t>
            </a:r>
            <a:endParaRPr lang="en-US" sz="1300" dirty="0"/>
          </a:p>
        </p:txBody>
      </p:sp>
      <p:sp>
        <p:nvSpPr>
          <p:cNvPr id="7" name="Text 5"/>
          <p:cNvSpPr/>
          <p:nvPr/>
        </p:nvSpPr>
        <p:spPr>
          <a:xfrm>
            <a:off x="502920" y="1783080"/>
            <a:ext cx="5669280" cy="26517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Cinq compteurs de tête : volume (fenêtre de 20 min), transactions, taux de succès, frais perçus, alertes</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Débit par minute et parts de marché en valeur (graphiques temps réel)</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Ventilations par type d'opération, canal et province</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Flux récent : les dernières transactions, anonymisées, avec indicateur d'anomalie</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Carte des cellules réseau : activité par site et anomalies « déplacement impossible »</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1463040"/>
          <a:ext cx="5303520" cy="914400"/>
        </p:xfrm>
        <a:graphic>
          <a:graphicData uri="http://schemas.openxmlformats.org/drawingml/2006/table">
            <a:tbl>
              <a:tblPr/>
              <a:tblGrid>
                <a:gridCol w="1920240"/>
                <a:gridCol w="3383280"/>
              </a:tblGrid>
              <a:tr h="384048">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Colonne du flux récent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Signification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Heure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Horodatage local (WAT) de la transaction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Opérateur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Émetteur de la transaction (couleur de l'opérateur)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Type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P2P, dépôt, retrait, marchand, facture, recharge…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Montant (XAF)</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Contre-valeur en francs CFA</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Alerte / OK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Anomalie détectée par le moteur de règles (ou conforme)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9" name="Shape 6"/>
          <p:cNvSpPr/>
          <p:nvPr/>
        </p:nvSpPr>
        <p:spPr>
          <a:xfrm>
            <a:off x="502920" y="4892040"/>
            <a:ext cx="11201400" cy="841248"/>
          </a:xfrm>
          <a:prstGeom prst="roundRect">
            <a:avLst>
              <a:gd name="adj" fmla="val 9783"/>
            </a:avLst>
          </a:prstGeom>
          <a:solidFill>
            <a:srgbClr val="EAF3EE"/>
          </a:solidFill>
          <a:ln/>
        </p:spPr>
      </p:sp>
      <p:sp>
        <p:nvSpPr>
          <p:cNvPr id="10" name="Text 7"/>
          <p:cNvSpPr/>
          <p:nvPr/>
        </p:nvSpPr>
        <p:spPr>
          <a:xfrm>
            <a:off x="667512" y="496519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le compteur « VOLUME (FENÊTRE) » couvre la fenêtre glissante affichée (20 minutes par défaut, réglable par le filtre minutes) — pas le cumul du jour. Le cumul de longue période se consulte dans Reporting réglementaire, sur période choisie.</a:t>
            </a:r>
            <a:endParaRPr lang="en-US" sz="1050" dirty="0"/>
          </a:p>
        </p:txBody>
      </p:sp>
      <p:sp>
        <p:nvSpPr>
          <p:cNvPr id="11" name="Text 8"/>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E5C3F"/>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TDR</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Registre des transactions &amp; sécurité</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Modules « Registre (TDR) » et « Sécurité &amp; audit » — le lac de données souverain.</a:t>
            </a:r>
            <a:endParaRPr lang="en-US" sz="1300" dirty="0"/>
          </a:p>
        </p:txBody>
      </p:sp>
      <p:sp>
        <p:nvSpPr>
          <p:cNvPr id="6" name="Text 4"/>
          <p:cNvSpPr/>
          <p:nvPr/>
        </p:nvSpPr>
        <p:spPr>
          <a:xfrm>
            <a:off x="502920" y="1417320"/>
            <a:ext cx="11155680" cy="502920"/>
          </a:xfrm>
          <a:prstGeom prst="rect">
            <a:avLst/>
          </a:prstGeom>
          <a:noFill/>
          <a:ln/>
        </p:spPr>
        <p:txBody>
          <a:bodyPr wrap="square" lIns="0" tIns="0" rIns="0" bIns="0" rtlCol="0" anchor="ctr"/>
          <a:lstStyle/>
          <a:p>
            <a:pPr indent="0" marL="0">
              <a:buNone/>
            </a:pPr>
            <a:r>
              <a:rPr lang="en-US" sz="1250" dirty="0">
                <a:solidFill>
                  <a:srgbClr val="3A4A42"/>
                </a:solidFill>
                <a:latin typeface="Arial" pitchFamily="34" charset="0"/>
                <a:ea typeface="Arial" pitchFamily="34" charset="-122"/>
                <a:cs typeface="Arial" pitchFamily="34" charset="-120"/>
              </a:rPr>
              <a:t>Chaque transaction devient un TDR (enregistrement normalisé) scellé dans une chaîne : modifier une ligne casserait toutes les empreintes suivantes.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6035040" cy="914400"/>
        </p:xfrm>
        <a:graphic>
          <a:graphicData uri="http://schemas.openxmlformats.org/drawingml/2006/table">
            <a:tbl>
              <a:tblPr/>
              <a:tblGrid>
                <a:gridCol w="1828800"/>
                <a:gridCol w="3977640"/>
              </a:tblGrid>
              <a:tr h="402336">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Colonne du registre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Signification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402336">
                <a:tc>
                  <a:txBody>
                    <a:bodyPr/>
                    <a:lstStyle/>
                    <a:p>
                      <a:pPr indent="0" marL="0">
                        <a:buNone/>
                      </a:pPr>
                      <a:r>
                        <a:rPr lang="en-US" sz="1050" dirty="0">
                          <a:solidFill>
                            <a:srgbClr val="3A4A42"/>
                          </a:solidFill>
                          <a:latin typeface="Arial" pitchFamily="34" charset="0"/>
                          <a:ea typeface="Arial" pitchFamily="34" charset="-122"/>
                          <a:cs typeface="Arial" pitchFamily="34" charset="-120"/>
                        </a:rPr>
                        <a:t>Seq</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Numéro d'ordre dans la chaîne (continu, sans trou)</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02336">
                <a:tc>
                  <a:txBody>
                    <a:bodyPr/>
                    <a:lstStyle/>
                    <a:p>
                      <a:pPr indent="0" marL="0">
                        <a:buNone/>
                      </a:pPr>
                      <a:r>
                        <a:rPr lang="en-US" sz="1050" dirty="0">
                          <a:solidFill>
                            <a:srgbClr val="3A4A42"/>
                          </a:solidFill>
                          <a:latin typeface="Arial" pitchFamily="34" charset="0"/>
                          <a:ea typeface="Arial" pitchFamily="34" charset="-122"/>
                          <a:cs typeface="Arial" pitchFamily="34" charset="-120"/>
                        </a:rPr>
                        <a:t>Horodatage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Date et heure du scellement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3A4A42"/>
                          </a:solidFill>
                          <a:latin typeface="Arial" pitchFamily="34" charset="0"/>
                          <a:ea typeface="Arial" pitchFamily="34" charset="-122"/>
                          <a:cs typeface="Arial" pitchFamily="34" charset="-120"/>
                        </a:rPr>
                        <a:t>Empreinte (hash)</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Empreinte SHA-256 liant la ligne à toute la chaîne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02336">
                <a:tc>
                  <a:txBody>
                    <a:bodyPr/>
                    <a:lstStyle/>
                    <a:p>
                      <a:pPr indent="0" marL="0">
                        <a:buNone/>
                      </a:pPr>
                      <a:r>
                        <a:rPr lang="en-US" sz="1050" dirty="0">
                          <a:solidFill>
                            <a:srgbClr val="3A4A42"/>
                          </a:solidFill>
                          <a:latin typeface="Arial" pitchFamily="34" charset="0"/>
                          <a:ea typeface="Arial" pitchFamily="34" charset="-122"/>
                          <a:cs typeface="Arial" pitchFamily="34" charset="-120"/>
                        </a:rPr>
                        <a:t>TDR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La transaction : type, montant, frais, statut, cellules réseau</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812280" y="2057400"/>
          <a:ext cx="4892040" cy="914400"/>
        </p:xfrm>
        <a:graphic>
          <a:graphicData uri="http://schemas.openxmlformats.org/drawingml/2006/table">
            <a:tbl>
              <a:tblPr/>
              <a:tblGrid>
                <a:gridCol w="1600200"/>
                <a:gridCol w="3063240"/>
              </a:tblGrid>
              <a:tr h="512064">
                <a:tc>
                  <a:txBody>
                    <a:bodyPr/>
                    <a:lstStyle/>
                    <a:p>
                      <a:pPr indent="0" marL="0">
                        <a:buNone/>
                      </a:pPr>
                      <a:r>
                        <a:rPr lang="en-US" sz="1050" b="1" dirty="0">
                          <a:solidFill>
                            <a:srgbClr val="FFFFFF"/>
                          </a:solidFill>
                          <a:latin typeface="Arial" pitchFamily="34" charset="0"/>
                          <a:ea typeface="Arial" pitchFamily="34" charset="-122"/>
                          <a:cs typeface="Arial" pitchFamily="34" charset="-120"/>
                        </a:rPr>
                        <a:t>Écran Sécurité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Ce qui est affiché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512064">
                <a:tc>
                  <a:txBody>
                    <a:bodyPr/>
                    <a:lstStyle/>
                    <a:p>
                      <a:pPr indent="0" marL="0">
                        <a:buNone/>
                      </a:pPr>
                      <a:r>
                        <a:rPr lang="en-US" sz="1050" dirty="0">
                          <a:solidFill>
                            <a:srgbClr val="3A4A42"/>
                          </a:solidFill>
                          <a:latin typeface="Arial" pitchFamily="34" charset="0"/>
                          <a:ea typeface="Arial" pitchFamily="34" charset="-122"/>
                          <a:cs typeface="Arial" pitchFamily="34" charset="-120"/>
                        </a:rPr>
                        <a:t>Intégrité du registre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b="1" dirty="0">
                          <a:solidFill>
                            <a:srgbClr val="1E7A4F"/>
                          </a:solidFill>
                          <a:latin typeface="Arial" pitchFamily="34" charset="0"/>
                          <a:ea typeface="Arial" pitchFamily="34" charset="-122"/>
                          <a:cs typeface="Arial" pitchFamily="34" charset="-120"/>
                        </a:rPr>
                        <a:t>VALIDE / ROMPUE — vérification signée de la fenêtre récente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512064">
                <a:tc>
                  <a:txBody>
                    <a:bodyPr/>
                    <a:lstStyle/>
                    <a:p>
                      <a:pPr indent="0" marL="0">
                        <a:buNone/>
                      </a:pPr>
                      <a:r>
                        <a:rPr lang="en-US" sz="1050" dirty="0">
                          <a:solidFill>
                            <a:srgbClr val="3A4A42"/>
                          </a:solidFill>
                          <a:latin typeface="Arial" pitchFamily="34" charset="0"/>
                          <a:ea typeface="Arial" pitchFamily="34" charset="-122"/>
                          <a:cs typeface="Arial" pitchFamily="34" charset="-120"/>
                        </a:rPr>
                        <a:t>Journal d'audit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Chaque action sensible (connexion, export, démasquage, config) — chaîné et signé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3A4A42"/>
                          </a:solidFill>
                          <a:latin typeface="Arial" pitchFamily="34" charset="0"/>
                          <a:ea typeface="Arial" pitchFamily="34" charset="-122"/>
                          <a:cs typeface="Arial" pitchFamily="34" charset="-120"/>
                        </a:rPr>
                        <a:t>Transport &amp; clés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TLS, algorithmes, clés publiques téléchargeables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9" name="Shape 5"/>
          <p:cNvSpPr/>
          <p:nvPr/>
        </p:nvSpPr>
        <p:spPr>
          <a:xfrm>
            <a:off x="502920" y="4663440"/>
            <a:ext cx="11201400" cy="1005840"/>
          </a:xfrm>
          <a:prstGeom prst="roundRect">
            <a:avLst>
              <a:gd name="adj" fmla="val 8182"/>
            </a:avLst>
          </a:prstGeom>
          <a:solidFill>
            <a:srgbClr val="EAF3EE"/>
          </a:solidFill>
          <a:ln/>
        </p:spPr>
      </p:sp>
      <p:sp>
        <p:nvSpPr>
          <p:cNvPr id="10" name="Text 6"/>
          <p:cNvSpPr/>
          <p:nvPr/>
        </p:nvSpPr>
        <p:spPr>
          <a:xfrm>
            <a:off x="667512" y="4736592"/>
            <a:ext cx="10872216" cy="859536"/>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le bouton « Vérifier » recontrôle la chaîne récente en quelques centaines de millisecondes ; la vérification intégrale depuis l'origine reste disponible (?full=1) pour les audits. Un statut ROMPU désigne la première ligne altérée (brokenAt).</a:t>
            </a:r>
            <a:endParaRPr lang="en-US" sz="1050" dirty="0"/>
          </a:p>
        </p:txBody>
      </p:sp>
      <p:sp>
        <p:nvSpPr>
          <p:cNvPr id="11" name="Text 7"/>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93B"/>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REV</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Revenus &amp; redevances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 « Revenus &amp; redevances » — l'assurance des revenus de l'État.</a:t>
            </a:r>
            <a:endParaRPr lang="en-US" sz="1300" dirty="0"/>
          </a:p>
        </p:txBody>
      </p:sp>
      <p:sp>
        <p:nvSpPr>
          <p:cNvPr id="6" name="Text 4"/>
          <p:cNvSpPr/>
          <p:nvPr/>
        </p:nvSpPr>
        <p:spPr>
          <a:xfrm>
            <a:off x="502920" y="1417320"/>
            <a:ext cx="11155680" cy="502920"/>
          </a:xfrm>
          <a:prstGeom prst="rect">
            <a:avLst/>
          </a:prstGeom>
          <a:noFill/>
          <a:ln/>
        </p:spPr>
        <p:txBody>
          <a:bodyPr wrap="square" lIns="0" tIns="0" rIns="0" bIns="0" rtlCol="0" anchor="ctr"/>
          <a:lstStyle/>
          <a:p>
            <a:pPr indent="0" marL="0">
              <a:buNone/>
            </a:pPr>
            <a:r>
              <a:rPr lang="en-US" sz="1250" dirty="0">
                <a:solidFill>
                  <a:srgbClr val="3A4A42"/>
                </a:solidFill>
                <a:latin typeface="Arial" pitchFamily="34" charset="0"/>
                <a:ea typeface="Arial" pitchFamily="34" charset="-122"/>
                <a:cs typeface="Arial" pitchFamily="34" charset="-120"/>
              </a:rPr>
              <a:t>La plateforme recalcule les frais ATTENDUS depuis la grille tarifaire officielle et les compare aux frais DÉCLARÉS par l'opérateur, transaction par transaction.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7955280" cy="914400"/>
        </p:xfrm>
        <a:graphic>
          <a:graphicData uri="http://schemas.openxmlformats.org/drawingml/2006/table">
            <a:tbl>
              <a:tblPr/>
              <a:tblGrid>
                <a:gridCol w="1737360"/>
                <a:gridCol w="1188720"/>
                <a:gridCol w="1280160"/>
                <a:gridCol w="1097280"/>
                <a:gridCol w="1097280"/>
                <a:gridCol w="1554480"/>
              </a:tblGrid>
              <a:tr h="384048">
                <a:tc>
                  <a:txBody>
                    <a:bodyPr/>
                    <a:lstStyle/>
                    <a:p>
                      <a:pPr indent="0" marL="0">
                        <a:buNone/>
                      </a:pPr>
                      <a:r>
                        <a:rPr lang="en-US" sz="1050" b="1" dirty="0">
                          <a:solidFill>
                            <a:srgbClr val="FFFFFF"/>
                          </a:solidFill>
                          <a:latin typeface="Arial" pitchFamily="34" charset="0"/>
                          <a:ea typeface="Arial" pitchFamily="34" charset="-122"/>
                          <a:cs typeface="Arial" pitchFamily="34" charset="-120"/>
                        </a:rPr>
                        <a:t>Opérateur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B07A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Frais perçus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B07A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Frais attendus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B07A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Écart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B07A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Sous-décl.</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B07A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Redevance due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B07A1E"/>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Airtel Money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10,6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11,4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b="1" dirty="0">
                          <a:solidFill>
                            <a:srgbClr val="B23A3A"/>
                          </a:solidFill>
                          <a:latin typeface="Arial" pitchFamily="34" charset="0"/>
                          <a:ea typeface="Arial" pitchFamily="34" charset="-122"/>
                          <a:cs typeface="Arial" pitchFamily="34" charset="-120"/>
                        </a:rPr>
                        <a:t>+775 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B23A3A"/>
                          </a:solidFill>
                          <a:latin typeface="Arial" pitchFamily="34" charset="0"/>
                          <a:ea typeface="Arial" pitchFamily="34" charset="-122"/>
                          <a:cs typeface="Arial" pitchFamily="34" charset="-120"/>
                        </a:rPr>
                        <a:t>201</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318 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Moov Money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8,9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9,1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+180 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267 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GIMAC Pay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2,1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2,1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+12 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63 k</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8" name="Text 5"/>
          <p:cNvSpPr/>
          <p:nvPr/>
        </p:nvSpPr>
        <p:spPr>
          <a:xfrm>
            <a:off x="502920" y="3794760"/>
            <a:ext cx="7315200" cy="274320"/>
          </a:xfrm>
          <a:prstGeom prst="rect">
            <a:avLst/>
          </a:prstGeom>
          <a:noFill/>
          <a:ln/>
        </p:spPr>
        <p:txBody>
          <a:bodyPr wrap="square" lIns="0" tIns="0" rIns="0" bIns="0" rtlCol="0" anchor="ctr"/>
          <a:lstStyle/>
          <a:p>
            <a:pPr indent="0" marL="0">
              <a:buNone/>
            </a:pPr>
            <a:r>
              <a:rPr lang="en-US" sz="950" i="1" dirty="0">
                <a:solidFill>
                  <a:srgbClr val="7A8A82"/>
                </a:solidFill>
                <a:latin typeface="Arial" pitchFamily="34" charset="0"/>
                <a:ea typeface="Arial" pitchFamily="34" charset="-122"/>
                <a:cs typeface="Arial" pitchFamily="34" charset="-120"/>
              </a:rPr>
              <a:t>Valeurs illustratives (données simulées), en XAF.</a:t>
            </a:r>
            <a:endParaRPr lang="en-US" sz="950" dirty="0"/>
          </a:p>
        </p:txBody>
      </p:sp>
      <p:sp>
        <p:nvSpPr>
          <p:cNvPr id="9" name="Shape 6"/>
          <p:cNvSpPr/>
          <p:nvPr/>
        </p:nvSpPr>
        <p:spPr>
          <a:xfrm>
            <a:off x="8732520" y="2103120"/>
            <a:ext cx="2971800" cy="1920240"/>
          </a:xfrm>
          <a:prstGeom prst="roundRect">
            <a:avLst>
              <a:gd name="adj" fmla="val 4286"/>
            </a:avLst>
          </a:prstGeom>
          <a:solidFill>
            <a:srgbClr val="F1F5F3"/>
          </a:solidFill>
          <a:ln/>
        </p:spPr>
      </p:sp>
      <p:sp>
        <p:nvSpPr>
          <p:cNvPr id="10" name="Text 7"/>
          <p:cNvSpPr/>
          <p:nvPr/>
        </p:nvSpPr>
        <p:spPr>
          <a:xfrm>
            <a:off x="8915400" y="2286000"/>
            <a:ext cx="2606040" cy="1600200"/>
          </a:xfrm>
          <a:prstGeom prst="rect">
            <a:avLst/>
          </a:prstGeom>
          <a:noFill/>
          <a:ln/>
        </p:spPr>
        <p:txBody>
          <a:bodyPr wrap="square" lIns="0" tIns="0" rIns="0" bIns="0" rtlCol="0" anchor="ctr"/>
          <a:lstStyle/>
          <a:p>
            <a:pPr indent="0" marL="0">
              <a:buNone/>
            </a:pPr>
            <a:r>
              <a:rPr lang="en-US" sz="1100" b="1" dirty="0">
                <a:solidFill>
                  <a:srgbClr val="B23A3A"/>
                </a:solidFill>
                <a:latin typeface="Arial" pitchFamily="34" charset="0"/>
                <a:ea typeface="Arial" pitchFamily="34" charset="-122"/>
                <a:cs typeface="Arial" pitchFamily="34" charset="-120"/>
              </a:rPr>
              <a:t>Écart &gt; 0 </a:t>
            </a:r>
            <a:pPr indent="0" marL="0">
              <a:buNone/>
            </a:pPr>
            <a:r>
              <a:rPr lang="en-US" sz="1100" dirty="0">
                <a:solidFill>
                  <a:srgbClr val="3A4A42"/>
                </a:solidFill>
                <a:latin typeface="Arial" pitchFamily="34" charset="0"/>
                <a:ea typeface="Arial" pitchFamily="34" charset="-122"/>
                <a:cs typeface="Arial" pitchFamily="34" charset="-120"/>
              </a:rPr>
              <a:t>= frais déclarés inférieurs aux frais attendus : sous-déclaration potentielle, donc redevance minorée. Le détail des transactions en écart s'ouvre en dessous (drill-down).</a:t>
            </a:r>
            <a:endParaRPr lang="en-US" sz="1100" dirty="0"/>
          </a:p>
        </p:txBody>
      </p:sp>
      <p:sp>
        <p:nvSpPr>
          <p:cNvPr id="11" name="Shape 8"/>
          <p:cNvSpPr/>
          <p:nvPr/>
        </p:nvSpPr>
        <p:spPr>
          <a:xfrm>
            <a:off x="502920" y="4343400"/>
            <a:ext cx="11201400" cy="1051560"/>
          </a:xfrm>
          <a:prstGeom prst="roundRect">
            <a:avLst>
              <a:gd name="adj" fmla="val 7826"/>
            </a:avLst>
          </a:prstGeom>
          <a:solidFill>
            <a:srgbClr val="EAF3EE"/>
          </a:solidFill>
          <a:ln/>
        </p:spPr>
      </p:sp>
      <p:sp>
        <p:nvSpPr>
          <p:cNvPr id="12" name="Text 9"/>
          <p:cNvSpPr/>
          <p:nvPr/>
        </p:nvSpPr>
        <p:spPr>
          <a:xfrm>
            <a:off x="667512" y="4416552"/>
            <a:ext cx="10872216" cy="905256"/>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la colonne « Sous-décl. » compte les transactions dont les frais déclarés sont inférieurs aux frais attendus (tolérance 1 XAF). La redevance due est calculée sur les frais au taux réglementaire configuré dans Administration. Le même moteur de calcul alimente l'écran temps réel et les rapports signés — les chiffres ne peuvent pas diverger.</a:t>
            </a:r>
            <a:endParaRPr lang="en-US" sz="1050" dirty="0"/>
          </a:p>
        </p:txBody>
      </p:sp>
      <p:sp>
        <p:nvSpPr>
          <p:cNvPr id="13" name="Text 10"/>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2F6DB5"/>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QoS</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Qualité de service</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 « Qualité de service » — taux de succès, latences et manquements aux seuils.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583680" cy="914400"/>
        </p:xfrm>
        <a:graphic>
          <a:graphicData uri="http://schemas.openxmlformats.org/drawingml/2006/table">
            <a:tbl>
              <a:tblPr/>
              <a:tblGrid>
                <a:gridCol w="1737360"/>
                <a:gridCol w="4617720"/>
              </a:tblGrid>
              <a:tr h="457200">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Colonne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Signification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Taux de succès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Part des transactions abouties (échecs techniques exclus du succès)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Latence moyenne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Délai moyen de traitement ressenti par l'usager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Latence p95</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95 % des transactions font mieux que cette valeur — l'indicateur des pires cas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Codes d'erreur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Ventilation des échecs : timeout (91), solde insuffisant (51), PIN erroné (75)…</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Manquements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Dépassements des seuils réglementaires configurés (succès minimal, latence maximale)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7" name="Shape 4"/>
          <p:cNvSpPr/>
          <p:nvPr/>
        </p:nvSpPr>
        <p:spPr>
          <a:xfrm>
            <a:off x="7360920" y="1508760"/>
            <a:ext cx="4343400" cy="2651760"/>
          </a:xfrm>
          <a:prstGeom prst="roundRect">
            <a:avLst>
              <a:gd name="adj" fmla="val 3103"/>
            </a:avLst>
          </a:prstGeom>
          <a:solidFill>
            <a:srgbClr val="F1F5F3"/>
          </a:solidFill>
          <a:ln/>
        </p:spPr>
      </p:sp>
      <p:sp>
        <p:nvSpPr>
          <p:cNvPr id="8" name="Text 5"/>
          <p:cNvSpPr/>
          <p:nvPr/>
        </p:nvSpPr>
        <p:spPr>
          <a:xfrm>
            <a:off x="7589520" y="1691640"/>
            <a:ext cx="3840480" cy="320040"/>
          </a:xfrm>
          <a:prstGeom prst="rect">
            <a:avLst/>
          </a:prstGeom>
          <a:noFill/>
          <a:ln/>
        </p:spPr>
        <p:txBody>
          <a:bodyPr wrap="square" lIns="0" tIns="0" rIns="0" bIns="0" rtlCol="0" anchor="ctr"/>
          <a:lstStyle/>
          <a:p>
            <a:pPr indent="0" marL="0">
              <a:buNone/>
            </a:pPr>
            <a:r>
              <a:rPr lang="en-US" sz="1500" b="1" dirty="0">
                <a:solidFill>
                  <a:srgbClr val="1C2B24"/>
                </a:solidFill>
                <a:latin typeface="Cambria" pitchFamily="34" charset="0"/>
                <a:ea typeface="Cambria" pitchFamily="34" charset="-122"/>
                <a:cs typeface="Cambria" pitchFamily="34" charset="-120"/>
              </a:rPr>
              <a:t>Par opérateur et par canal</a:t>
            </a:r>
            <a:endParaRPr lang="en-US" sz="1500" dirty="0"/>
          </a:p>
        </p:txBody>
      </p:sp>
      <p:sp>
        <p:nvSpPr>
          <p:cNvPr id="9" name="Text 6"/>
          <p:cNvSpPr/>
          <p:nvPr/>
        </p:nvSpPr>
        <p:spPr>
          <a:xfrm>
            <a:off x="7589520" y="2103120"/>
            <a:ext cx="3886200" cy="1965960"/>
          </a:xfrm>
          <a:prstGeom prst="rect">
            <a:avLst/>
          </a:prstGeom>
          <a:noFill/>
          <a:ln/>
        </p:spPr>
        <p:txBody>
          <a:bodyPr wrap="square" lIns="0" tIns="0" rIns="0" bIns="0" rtlCol="0" anchor="ctr"/>
          <a:lstStyle/>
          <a:p>
            <a:pPr indent="0" marL="0">
              <a:buNone/>
            </a:pPr>
            <a:r>
              <a:rPr lang="en-US" sz="1100" dirty="0">
                <a:solidFill>
                  <a:srgbClr val="3A4A42"/>
                </a:solidFill>
                <a:latin typeface="Arial" pitchFamily="34" charset="0"/>
                <a:ea typeface="Arial" pitchFamily="34" charset="-122"/>
                <a:cs typeface="Arial" pitchFamily="34" charset="-120"/>
              </a:rPr>
              <a:t>Le même tableau existe en deux découpages : par opérateur (responsabilité) et par canal USSD / STK / application / SMS (expérience réelle des usagers, le canal USSD étant celui des populations non connectées).</a:t>
            </a:r>
            <a:endParaRPr lang="en-US" sz="1100" dirty="0"/>
          </a:p>
          <a:p>
            <a:pPr indent="0" marL="0">
              <a:buNone/>
            </a:pPr>
            <a:endParaRPr lang="en-US" sz="1100" dirty="0"/>
          </a:p>
          <a:p>
            <a:pPr indent="0" marL="0">
              <a:buNone/>
            </a:pPr>
            <a:r>
              <a:rPr lang="en-US" sz="1100" b="1" dirty="0">
                <a:solidFill>
                  <a:srgbClr val="3A4A42"/>
                </a:solidFill>
                <a:latin typeface="Arial" pitchFamily="34" charset="0"/>
                <a:ea typeface="Arial" pitchFamily="34" charset="-122"/>
                <a:cs typeface="Arial" pitchFamily="34" charset="-120"/>
              </a:rPr>
              <a:t>Ces valeurs sont CONTRÔLÉES (recalculées du flux). L'écran « Mesure indépendante » y superpose le MESURÉ des sondes.</a:t>
            </a:r>
            <a:endParaRPr lang="en-US" sz="1100" dirty="0"/>
          </a:p>
        </p:txBody>
      </p:sp>
      <p:sp>
        <p:nvSpPr>
          <p:cNvPr id="10" name="Shape 7"/>
          <p:cNvSpPr/>
          <p:nvPr/>
        </p:nvSpPr>
        <p:spPr>
          <a:xfrm>
            <a:off x="502920" y="4526280"/>
            <a:ext cx="11201400" cy="841248"/>
          </a:xfrm>
          <a:prstGeom prst="roundRect">
            <a:avLst>
              <a:gd name="adj" fmla="val 9783"/>
            </a:avLst>
          </a:prstGeom>
          <a:solidFill>
            <a:srgbClr val="EAF3EE"/>
          </a:solidFill>
          <a:ln/>
        </p:spPr>
      </p:sp>
      <p:sp>
        <p:nvSpPr>
          <p:cNvPr id="11" name="Text 8"/>
          <p:cNvSpPr/>
          <p:nvPr/>
        </p:nvSpPr>
        <p:spPr>
          <a:xfrm>
            <a:off x="667512" y="459943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une latence moyenne correcte peut masquer des pointes inacceptables : surveiller la p95. Les seuils (taux de succès minimal, latence maximale) sont modifiables à chaud dans Administration et s'appliquent immédiatement au calcul des manquements.</a:t>
            </a:r>
            <a:endParaRPr lang="en-US" sz="1050" dirty="0"/>
          </a:p>
        </p:txBody>
      </p:sp>
      <p:sp>
        <p:nvSpPr>
          <p:cNvPr id="12" name="Text 9"/>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B23A3A"/>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AML</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Antifraude / AML &amp; analytics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Modules « Antifraude », « Analytics / Risque » — le moteur de règles et le scoring.</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766560" cy="914400"/>
        </p:xfrm>
        <a:graphic>
          <a:graphicData uri="http://schemas.openxmlformats.org/drawingml/2006/table">
            <a:tbl>
              <a:tblPr/>
              <a:tblGrid>
                <a:gridCol w="2011680"/>
                <a:gridCol w="4754880"/>
              </a:tblGrid>
              <a:tr h="420624">
                <a:tc>
                  <a:txBody>
                    <a:bodyPr/>
                    <a:lstStyle/>
                    <a:p>
                      <a:pPr indent="0" marL="0">
                        <a:buNone/>
                      </a:pPr>
                      <a:r>
                        <a:rPr lang="en-US" sz="1050" b="1" dirty="0">
                          <a:solidFill>
                            <a:srgbClr val="FFFFFF"/>
                          </a:solidFill>
                          <a:latin typeface="Arial" pitchFamily="34" charset="0"/>
                          <a:ea typeface="Arial" pitchFamily="34" charset="-122"/>
                          <a:cs typeface="Arial" pitchFamily="34" charset="-120"/>
                        </a:rPr>
                        <a:t>Règle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Ce qu'elle détecte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HIGH_VALUE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Transaction au-dessus du montant élevé configuré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VELOCITY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Rafale : trop de transactions d'un même numéro dans la fenêtre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STRUCTURING</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Fractionnement : montants juste sous le seuil de déclaration, répétés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CROSS_BORDER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Transfert transfrontalier au-dessus du seuil de revue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IMPOSSIBLE_TRAVEL</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Même numéro vu dans deux cellules incompatibles physiquement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7" name="Shape 4"/>
          <p:cNvSpPr/>
          <p:nvPr/>
        </p:nvSpPr>
        <p:spPr>
          <a:xfrm>
            <a:off x="7543800" y="1508760"/>
            <a:ext cx="4160520" cy="2880360"/>
          </a:xfrm>
          <a:prstGeom prst="roundRect">
            <a:avLst>
              <a:gd name="adj" fmla="val 2857"/>
            </a:avLst>
          </a:prstGeom>
          <a:solidFill>
            <a:srgbClr val="F1F5F3"/>
          </a:solidFill>
          <a:ln/>
        </p:spPr>
      </p:sp>
      <p:sp>
        <p:nvSpPr>
          <p:cNvPr id="8" name="Text 5"/>
          <p:cNvSpPr/>
          <p:nvPr/>
        </p:nvSpPr>
        <p:spPr>
          <a:xfrm>
            <a:off x="7772400" y="1691640"/>
            <a:ext cx="3657600" cy="320040"/>
          </a:xfrm>
          <a:prstGeom prst="rect">
            <a:avLst/>
          </a:prstGeom>
          <a:noFill/>
          <a:ln/>
        </p:spPr>
        <p:txBody>
          <a:bodyPr wrap="square" lIns="0" tIns="0" rIns="0" bIns="0" rtlCol="0" anchor="ctr"/>
          <a:lstStyle/>
          <a:p>
            <a:pPr indent="0" marL="0">
              <a:buNone/>
            </a:pPr>
            <a:r>
              <a:rPr lang="en-US" sz="1500" b="1" dirty="0">
                <a:solidFill>
                  <a:srgbClr val="1C2B24"/>
                </a:solidFill>
                <a:latin typeface="Cambria" pitchFamily="34" charset="0"/>
                <a:ea typeface="Cambria" pitchFamily="34" charset="-122"/>
                <a:cs typeface="Cambria" pitchFamily="34" charset="-120"/>
              </a:rPr>
              <a:t>Le tableau des alertes</a:t>
            </a:r>
            <a:endParaRPr lang="en-US" sz="1500" dirty="0"/>
          </a:p>
        </p:txBody>
      </p:sp>
      <p:sp>
        <p:nvSpPr>
          <p:cNvPr id="9" name="Text 6"/>
          <p:cNvSpPr/>
          <p:nvPr/>
        </p:nvSpPr>
        <p:spPr>
          <a:xfrm>
            <a:off x="7772400" y="2103120"/>
            <a:ext cx="3749040" cy="219456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3A4A42"/>
                </a:solidFill>
                <a:latin typeface="Arial" pitchFamily="34" charset="0"/>
                <a:ea typeface="Arial" pitchFamily="34" charset="-122"/>
                <a:cs typeface="Arial" pitchFamily="34" charset="-120"/>
              </a:rPr>
              <a:t>Heure, règle, gravité (ÉLEVÉE / MOYENNE), opérateur, montant, détail</a:t>
            </a:r>
            <a:endParaRPr lang="en-US" sz="1100" dirty="0"/>
          </a:p>
          <a:p>
            <a:pPr marL="342900" indent="-342900">
              <a:spcAft>
                <a:spcPts val="600"/>
              </a:spcAft>
              <a:buSzPct val="100000"/>
              <a:buChar char="•"/>
            </a:pPr>
            <a:r>
              <a:rPr lang="en-US" sz="1100" dirty="0">
                <a:solidFill>
                  <a:srgbClr val="3A4A42"/>
                </a:solidFill>
                <a:latin typeface="Arial" pitchFamily="34" charset="0"/>
                <a:ea typeface="Arial" pitchFamily="34" charset="-122"/>
                <a:cs typeface="Arial" pitchFamily="34" charset="-120"/>
              </a:rPr>
              <a:t>Sujet identifié par un jeton anonyme — jamais le numéro en clair</a:t>
            </a:r>
            <a:endParaRPr lang="en-US" sz="1100" dirty="0"/>
          </a:p>
          <a:p>
            <a:pPr marL="342900" indent="-342900">
              <a:spcAft>
                <a:spcPts val="600"/>
              </a:spcAft>
              <a:buSzPct val="100000"/>
              <a:buChar char="•"/>
            </a:pPr>
            <a:r>
              <a:rPr lang="en-US" sz="1100" dirty="0">
                <a:solidFill>
                  <a:srgbClr val="3A4A42"/>
                </a:solidFill>
                <a:latin typeface="Arial" pitchFamily="34" charset="0"/>
                <a:ea typeface="Arial" pitchFamily="34" charset="-122"/>
                <a:cs typeface="Arial" pitchFamily="34" charset="-120"/>
              </a:rPr>
              <a:t>Bouton « ouvrir un dossier » → module Investigation</a:t>
            </a:r>
            <a:endParaRPr lang="en-US" sz="1100" dirty="0"/>
          </a:p>
          <a:p>
            <a:pPr marL="342900" indent="-342900">
              <a:spcAft>
                <a:spcPts val="600"/>
              </a:spcAft>
              <a:buSzPct val="100000"/>
              <a:buChar char="•"/>
            </a:pPr>
            <a:r>
              <a:rPr lang="en-US" sz="1100" dirty="0">
                <a:solidFill>
                  <a:srgbClr val="3A4A42"/>
                </a:solidFill>
                <a:latin typeface="Arial" pitchFamily="34" charset="0"/>
                <a:ea typeface="Arial" pitchFamily="34" charset="-122"/>
                <a:cs typeface="Arial" pitchFamily="34" charset="-120"/>
              </a:rPr>
              <a:t>Analytics : score de risque 0–100 par profil statistique (z-score) et tableau des sujets à risque</a:t>
            </a:r>
            <a:endParaRPr lang="en-US" sz="1100" dirty="0"/>
          </a:p>
        </p:txBody>
      </p:sp>
      <p:sp>
        <p:nvSpPr>
          <p:cNvPr id="10" name="Shape 7"/>
          <p:cNvSpPr/>
          <p:nvPr/>
        </p:nvSpPr>
        <p:spPr>
          <a:xfrm>
            <a:off x="502920" y="4709160"/>
            <a:ext cx="11201400" cy="841248"/>
          </a:xfrm>
          <a:prstGeom prst="roundRect">
            <a:avLst>
              <a:gd name="adj" fmla="val 9783"/>
            </a:avLst>
          </a:prstGeom>
          <a:solidFill>
            <a:srgbClr val="EAF3EE"/>
          </a:solidFill>
          <a:ln/>
        </p:spPr>
      </p:sp>
      <p:sp>
        <p:nvSpPr>
          <p:cNvPr id="11" name="Text 8"/>
          <p:cNvSpPr/>
          <p:nvPr/>
        </p:nvSpPr>
        <p:spPr>
          <a:xfrm>
            <a:off x="667512" y="478231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tous les seuils (montant élevé, vélocité, fractionnement, vitesse de déplacement) sont configurables dans Administration — un changement s'applique immédiatement au flux. Le score Analytics est un outil statistique de priorisation, pas une preuve : la qualification appartient à l'enquêteur.</a:t>
            </a:r>
            <a:endParaRPr lang="en-US" sz="1050" dirty="0"/>
          </a:p>
        </p:txBody>
      </p:sp>
      <p:sp>
        <p:nvSpPr>
          <p:cNvPr id="12" name="Text 9"/>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A3D2B"/>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INV</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Investigation</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 « Investigation » — dossiers d'enquête et traçage de chaînes de transactions.</a:t>
            </a:r>
            <a:endParaRPr lang="en-US" sz="1300" dirty="0"/>
          </a:p>
        </p:txBody>
      </p:sp>
      <p:sp>
        <p:nvSpPr>
          <p:cNvPr id="6" name="Text 4"/>
          <p:cNvSpPr/>
          <p:nvPr/>
        </p:nvSpPr>
        <p:spPr>
          <a:xfrm>
            <a:off x="502920" y="1417320"/>
            <a:ext cx="5486400" cy="320040"/>
          </a:xfrm>
          <a:prstGeom prst="rect">
            <a:avLst/>
          </a:prstGeom>
          <a:noFill/>
          <a:ln/>
        </p:spPr>
        <p:txBody>
          <a:bodyPr wrap="square" lIns="0" tIns="0" rIns="0" bIns="0" rtlCol="0" anchor="ctr"/>
          <a:lstStyle/>
          <a:p>
            <a:pPr indent="0" marL="0">
              <a:buNone/>
            </a:pPr>
            <a:r>
              <a:rPr lang="en-US" sz="1300" b="1" dirty="0">
                <a:solidFill>
                  <a:srgbClr val="0E5C3F"/>
                </a:solidFill>
                <a:latin typeface="Arial" pitchFamily="34" charset="0"/>
                <a:ea typeface="Arial" pitchFamily="34" charset="-122"/>
                <a:cs typeface="Arial" pitchFamily="34" charset="-120"/>
              </a:rPr>
              <a:t>Ce que montre l'écran</a:t>
            </a:r>
            <a:endParaRPr lang="en-US" sz="1300" dirty="0"/>
          </a:p>
        </p:txBody>
      </p:sp>
      <p:sp>
        <p:nvSpPr>
          <p:cNvPr id="7" name="Text 5"/>
          <p:cNvSpPr/>
          <p:nvPr/>
        </p:nvSpPr>
        <p:spPr>
          <a:xfrm>
            <a:off x="502920" y="1783080"/>
            <a:ext cx="5852160" cy="29260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A4A42"/>
                </a:solidFill>
                <a:latin typeface="Arial" pitchFamily="34" charset="0"/>
                <a:ea typeface="Arial" pitchFamily="34" charset="-122"/>
                <a:cs typeface="Arial" pitchFamily="34" charset="-120"/>
              </a:rPr>
              <a:t>Dossiers : référence, objet, gravité, statut (ouvert / en cours / clos), notes datées</a:t>
            </a:r>
            <a:endParaRPr lang="en-US" sz="1200" dirty="0"/>
          </a:p>
          <a:p>
            <a:pPr marL="342900" indent="-342900">
              <a:spcAft>
                <a:spcPts val="800"/>
              </a:spcAft>
              <a:buSzPct val="100000"/>
              <a:buChar char="•"/>
            </a:pPr>
            <a:r>
              <a:rPr lang="en-US" sz="1200" dirty="0">
                <a:solidFill>
                  <a:srgbClr val="3A4A42"/>
                </a:solidFill>
                <a:latin typeface="Arial" pitchFamily="34" charset="0"/>
                <a:ea typeface="Arial" pitchFamily="34" charset="-122"/>
                <a:cs typeface="Arial" pitchFamily="34" charset="-120"/>
              </a:rPr>
              <a:t>Créés manuellement, depuis une alerte, ou automatiquement par une procédure contradictoire (écart mesuré/déclaré)</a:t>
            </a:r>
            <a:endParaRPr lang="en-US" sz="1200" dirty="0"/>
          </a:p>
          <a:p>
            <a:pPr marL="342900" indent="-342900">
              <a:spcAft>
                <a:spcPts val="800"/>
              </a:spcAft>
              <a:buSzPct val="100000"/>
              <a:buChar char="•"/>
            </a:pPr>
            <a:r>
              <a:rPr lang="en-US" sz="1200" dirty="0">
                <a:solidFill>
                  <a:srgbClr val="3A4A42"/>
                </a:solidFill>
                <a:latin typeface="Arial" pitchFamily="34" charset="0"/>
                <a:ea typeface="Arial" pitchFamily="34" charset="-122"/>
                <a:cs typeface="Arial" pitchFamily="34" charset="-120"/>
              </a:rPr>
              <a:t>Traçage : toutes les transactions d'un sujet (émises et reçues), chronologie et contreparties agrégées</a:t>
            </a:r>
            <a:endParaRPr lang="en-US" sz="1200" dirty="0"/>
          </a:p>
          <a:p>
            <a:pPr marL="342900" indent="-342900">
              <a:spcAft>
                <a:spcPts val="800"/>
              </a:spcAft>
              <a:buSzPct val="100000"/>
              <a:buChar char="•"/>
            </a:pPr>
            <a:r>
              <a:rPr lang="en-US" sz="1200" dirty="0">
                <a:solidFill>
                  <a:srgbClr val="3A4A42"/>
                </a:solidFill>
                <a:latin typeface="Arial" pitchFamily="34" charset="0"/>
                <a:ea typeface="Arial" pitchFamily="34" charset="-122"/>
                <a:cs typeface="Arial" pitchFamily="34" charset="-120"/>
              </a:rPr>
              <a:t>Numéros masqués par défaut — le démasquage exige une direction habilitée (DCTLF, DJ) et inscrit une ligne MSISDN_REVEAL au journal d'audit</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720840" y="1463040"/>
          <a:ext cx="4983480" cy="914400"/>
        </p:xfrm>
        <a:graphic>
          <a:graphicData uri="http://schemas.openxmlformats.org/drawingml/2006/table">
            <a:tbl>
              <a:tblPr/>
              <a:tblGrid>
                <a:gridCol w="1737360"/>
                <a:gridCol w="3246120"/>
              </a:tblGrid>
              <a:tr h="457200">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Colonne du traçage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Signification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Sens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ENVOI ou RÉCEPTION vue du sujet tracé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Contrepartie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Le numéro d'en face — masqué sauf habilitation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Seq / empreinte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Renvoi vers la ligne scellée du registre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57200">
                <a:tc>
                  <a:txBody>
                    <a:bodyPr/>
                    <a:lstStyle/>
                    <a:p>
                      <a:pPr indent="0" marL="0">
                        <a:buNone/>
                      </a:pPr>
                      <a:r>
                        <a:rPr lang="en-US" sz="1050" dirty="0">
                          <a:solidFill>
                            <a:srgbClr val="3A4A42"/>
                          </a:solidFill>
                          <a:latin typeface="Arial" pitchFamily="34" charset="0"/>
                          <a:ea typeface="Arial" pitchFamily="34" charset="-122"/>
                          <a:cs typeface="Arial" pitchFamily="34" charset="-120"/>
                        </a:rPr>
                        <a:t>Contreparties agrégées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Total échangé avec chaque contrepartie distincte (classement)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bl>
          </a:graphicData>
        </a:graphic>
      </p:graphicFrame>
      <p:sp>
        <p:nvSpPr>
          <p:cNvPr id="9" name="Shape 6"/>
          <p:cNvSpPr/>
          <p:nvPr/>
        </p:nvSpPr>
        <p:spPr>
          <a:xfrm>
            <a:off x="502920" y="4892040"/>
            <a:ext cx="11201400" cy="841248"/>
          </a:xfrm>
          <a:prstGeom prst="roundRect">
            <a:avLst>
              <a:gd name="adj" fmla="val 9783"/>
            </a:avLst>
          </a:prstGeom>
          <a:solidFill>
            <a:srgbClr val="EAF3EE"/>
          </a:solidFill>
          <a:ln/>
        </p:spPr>
      </p:sp>
      <p:sp>
        <p:nvSpPr>
          <p:cNvPr id="10" name="Text 7"/>
          <p:cNvSpPr/>
          <p:nvPr/>
        </p:nvSpPr>
        <p:spPr>
          <a:xfrm>
            <a:off x="667512" y="496519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l'agrégation des contreparties est calculée sur les numéros réels côté serveur puis affichée masquée : deux contreparties différentes ne sont jamais fusionnées à l'écran, même si leurs masques se ressemblent.</a:t>
            </a:r>
            <a:endParaRPr lang="en-US" sz="1050" dirty="0"/>
          </a:p>
        </p:txBody>
      </p:sp>
      <p:sp>
        <p:nvSpPr>
          <p:cNvPr id="11" name="Text 8"/>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E5C3F"/>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COL</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Connecteurs, collecte &amp; reporting réglementaire</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Modules « Connecteurs / Collecte » et « Reporting réglementaire ».</a:t>
            </a:r>
            <a:endParaRPr lang="en-US" sz="1300" dirty="0"/>
          </a:p>
        </p:txBody>
      </p:sp>
      <p:sp>
        <p:nvSpPr>
          <p:cNvPr id="6" name="Shape 4"/>
          <p:cNvSpPr/>
          <p:nvPr/>
        </p:nvSpPr>
        <p:spPr>
          <a:xfrm>
            <a:off x="502920" y="1508760"/>
            <a:ext cx="5486400" cy="3108960"/>
          </a:xfrm>
          <a:prstGeom prst="roundRect">
            <a:avLst>
              <a:gd name="adj" fmla="val 2647"/>
            </a:avLst>
          </a:prstGeom>
          <a:solidFill>
            <a:srgbClr val="F1F5F3"/>
          </a:solidFill>
          <a:ln/>
        </p:spPr>
      </p:sp>
      <p:sp>
        <p:nvSpPr>
          <p:cNvPr id="7" name="Text 5"/>
          <p:cNvSpPr/>
          <p:nvPr/>
        </p:nvSpPr>
        <p:spPr>
          <a:xfrm>
            <a:off x="731520" y="1691640"/>
            <a:ext cx="4572000" cy="365760"/>
          </a:xfrm>
          <a:prstGeom prst="rect">
            <a:avLst/>
          </a:prstGeom>
          <a:noFill/>
          <a:ln/>
        </p:spPr>
        <p:txBody>
          <a:bodyPr wrap="square" lIns="0" tIns="0" rIns="0" bIns="0" rtlCol="0" anchor="ctr"/>
          <a:lstStyle/>
          <a:p>
            <a:pPr indent="0" marL="0">
              <a:buNone/>
            </a:pPr>
            <a:r>
              <a:rPr lang="en-US" sz="1600" b="1" dirty="0">
                <a:solidFill>
                  <a:srgbClr val="1C2B24"/>
                </a:solidFill>
                <a:latin typeface="Cambria" pitchFamily="34" charset="0"/>
                <a:ea typeface="Cambria" pitchFamily="34" charset="-122"/>
                <a:cs typeface="Cambria" pitchFamily="34" charset="-120"/>
              </a:rPr>
              <a:t>Collecte (entrée)</a:t>
            </a:r>
            <a:endParaRPr lang="en-US" sz="1600" dirty="0"/>
          </a:p>
        </p:txBody>
      </p:sp>
      <p:sp>
        <p:nvSpPr>
          <p:cNvPr id="8" name="Text 6"/>
          <p:cNvSpPr/>
          <p:nvPr/>
        </p:nvSpPr>
        <p:spPr>
          <a:xfrm>
            <a:off x="731520" y="2103120"/>
            <a:ext cx="5029200" cy="23774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Trois formats acceptés : ISO 8583 (bancaire), JSON, CSV — authentifiés par clé + signature HMAC</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Normalisation des dialectes opérateurs vers le modèle commun (TDR)</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Contrôle qualité : complétude par source, motifs de rejet, statistiques d'ingestion</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La géographie peut être portée par la ville (cityName) — pas besoin de connaître les cellules internes</a:t>
            </a:r>
            <a:endParaRPr lang="en-US" sz="1150" dirty="0"/>
          </a:p>
        </p:txBody>
      </p:sp>
      <p:sp>
        <p:nvSpPr>
          <p:cNvPr id="9" name="Shape 7"/>
          <p:cNvSpPr/>
          <p:nvPr/>
        </p:nvSpPr>
        <p:spPr>
          <a:xfrm>
            <a:off x="6263640" y="1508760"/>
            <a:ext cx="5440680" cy="3108960"/>
          </a:xfrm>
          <a:prstGeom prst="roundRect">
            <a:avLst>
              <a:gd name="adj" fmla="val 2647"/>
            </a:avLst>
          </a:prstGeom>
          <a:solidFill>
            <a:srgbClr val="F1F5F3"/>
          </a:solidFill>
          <a:ln/>
        </p:spPr>
      </p:sp>
      <p:sp>
        <p:nvSpPr>
          <p:cNvPr id="10" name="Text 8"/>
          <p:cNvSpPr/>
          <p:nvPr/>
        </p:nvSpPr>
        <p:spPr>
          <a:xfrm>
            <a:off x="6492240" y="1691640"/>
            <a:ext cx="4572000" cy="365760"/>
          </a:xfrm>
          <a:prstGeom prst="rect">
            <a:avLst/>
          </a:prstGeom>
          <a:noFill/>
          <a:ln/>
        </p:spPr>
        <p:txBody>
          <a:bodyPr wrap="square" lIns="0" tIns="0" rIns="0" bIns="0" rtlCol="0" anchor="ctr"/>
          <a:lstStyle/>
          <a:p>
            <a:pPr indent="0" marL="0">
              <a:buNone/>
            </a:pPr>
            <a:r>
              <a:rPr lang="en-US" sz="1600" b="1" dirty="0">
                <a:solidFill>
                  <a:srgbClr val="1C2B24"/>
                </a:solidFill>
                <a:latin typeface="Cambria" pitchFamily="34" charset="0"/>
                <a:ea typeface="Cambria" pitchFamily="34" charset="-122"/>
                <a:cs typeface="Cambria" pitchFamily="34" charset="-120"/>
              </a:rPr>
              <a:t>Reporting (sortie)</a:t>
            </a:r>
            <a:endParaRPr lang="en-US" sz="1600" dirty="0"/>
          </a:p>
        </p:txBody>
      </p:sp>
      <p:sp>
        <p:nvSpPr>
          <p:cNvPr id="11" name="Text 9"/>
          <p:cNvSpPr/>
          <p:nvPr/>
        </p:nvSpPr>
        <p:spPr>
          <a:xfrm>
            <a:off x="6492240" y="2103120"/>
            <a:ext cx="4983480" cy="23774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Quatre modèles : observatoire du marché, redevances, qualité de service, antifraude/AML</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Période au choix (dates inclusives) et périmètre opérateur</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Export CSV ou JSON — chaque fichier porte son empreinte SHA-256 et sa signature ECDSA</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Chaque export est journalisé (qui, quoi, quand) au journal d'audit</a:t>
            </a:r>
            <a:endParaRPr lang="en-US" sz="1150" dirty="0"/>
          </a:p>
        </p:txBody>
      </p:sp>
      <p:sp>
        <p:nvSpPr>
          <p:cNvPr id="12" name="Shape 10"/>
          <p:cNvSpPr/>
          <p:nvPr/>
        </p:nvSpPr>
        <p:spPr>
          <a:xfrm>
            <a:off x="502920" y="4892040"/>
            <a:ext cx="11201400" cy="841248"/>
          </a:xfrm>
          <a:prstGeom prst="roundRect">
            <a:avLst>
              <a:gd name="adj" fmla="val 9783"/>
            </a:avLst>
          </a:prstGeom>
          <a:solidFill>
            <a:srgbClr val="EAF3EE"/>
          </a:solidFill>
          <a:ln/>
        </p:spPr>
      </p:sp>
      <p:sp>
        <p:nvSpPr>
          <p:cNvPr id="13" name="Text 11"/>
          <p:cNvSpPr/>
          <p:nvPr/>
        </p:nvSpPr>
        <p:spPr>
          <a:xfrm>
            <a:off x="667512" y="496519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un rapport signé se vérifie hors plateforme : l'empreinte du fichier et la signature figurent dans les en-têtes de l'export, la clé publique est téléchargeable sur l'écran Sécurité. Les rapports utilisent les mêmes moteurs de calcul que les écrans temps réel.</a:t>
            </a:r>
            <a:endParaRPr lang="en-US" sz="1050" dirty="0"/>
          </a:p>
        </p:txBody>
      </p:sp>
      <p:sp>
        <p:nvSpPr>
          <p:cNvPr id="14" name="Text 12"/>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93B"/>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ADM</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Administration &amp; dispatch des modules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Modules « Administration » et « Dispatch » — configuration métier et droits d'accès.</a:t>
            </a:r>
            <a:endParaRPr lang="en-US" sz="1300" dirty="0"/>
          </a:p>
        </p:txBody>
      </p:sp>
      <p:sp>
        <p:nvSpPr>
          <p:cNvPr id="6" name="Shape 4"/>
          <p:cNvSpPr/>
          <p:nvPr/>
        </p:nvSpPr>
        <p:spPr>
          <a:xfrm>
            <a:off x="502920" y="1508760"/>
            <a:ext cx="5486400" cy="3200400"/>
          </a:xfrm>
          <a:prstGeom prst="roundRect">
            <a:avLst>
              <a:gd name="adj" fmla="val 2571"/>
            </a:avLst>
          </a:prstGeom>
          <a:solidFill>
            <a:srgbClr val="F1F5F3"/>
          </a:solidFill>
          <a:ln/>
        </p:spPr>
      </p:sp>
      <p:sp>
        <p:nvSpPr>
          <p:cNvPr id="7" name="Text 5"/>
          <p:cNvSpPr/>
          <p:nvPr/>
        </p:nvSpPr>
        <p:spPr>
          <a:xfrm>
            <a:off x="731520" y="1691640"/>
            <a:ext cx="4754880" cy="365760"/>
          </a:xfrm>
          <a:prstGeom prst="rect">
            <a:avLst/>
          </a:prstGeom>
          <a:noFill/>
          <a:ln/>
        </p:spPr>
        <p:txBody>
          <a:bodyPr wrap="square" lIns="0" tIns="0" rIns="0" bIns="0" rtlCol="0" anchor="ctr"/>
          <a:lstStyle/>
          <a:p>
            <a:pPr indent="0" marL="0">
              <a:buNone/>
            </a:pPr>
            <a:r>
              <a:rPr lang="en-US" sz="1600" b="1" dirty="0">
                <a:solidFill>
                  <a:srgbClr val="1C2B24"/>
                </a:solidFill>
                <a:latin typeface="Cambria" pitchFamily="34" charset="0"/>
                <a:ea typeface="Cambria" pitchFamily="34" charset="-122"/>
                <a:cs typeface="Cambria" pitchFamily="34" charset="-120"/>
              </a:rPr>
              <a:t>Administration (config métier)</a:t>
            </a:r>
            <a:endParaRPr lang="en-US" sz="1600" dirty="0"/>
          </a:p>
        </p:txBody>
      </p:sp>
      <p:sp>
        <p:nvSpPr>
          <p:cNvPr id="8" name="Text 6"/>
          <p:cNvSpPr/>
          <p:nvPr/>
        </p:nvSpPr>
        <p:spPr>
          <a:xfrm>
            <a:off x="731520" y="2103120"/>
            <a:ext cx="5029200" cy="24688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Grilles tarifaires officielles par type d'opération (%, fixe, min, plafond)</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Seuils antifraude, seuils QoS, taux de redevance, cadence du flux de démonstration</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Chaque champ est borné et validé — une valeur aberrante est refusée avec un message explicite</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Tout changement s'applique à chaud et s'inscrit au journal d'audit</a:t>
            </a:r>
            <a:endParaRPr lang="en-US" sz="1150" dirty="0"/>
          </a:p>
        </p:txBody>
      </p:sp>
      <p:sp>
        <p:nvSpPr>
          <p:cNvPr id="9" name="Shape 7"/>
          <p:cNvSpPr/>
          <p:nvPr/>
        </p:nvSpPr>
        <p:spPr>
          <a:xfrm>
            <a:off x="6263640" y="1508760"/>
            <a:ext cx="5440680" cy="3200400"/>
          </a:xfrm>
          <a:prstGeom prst="roundRect">
            <a:avLst>
              <a:gd name="adj" fmla="val 2571"/>
            </a:avLst>
          </a:prstGeom>
          <a:solidFill>
            <a:srgbClr val="F1F5F3"/>
          </a:solidFill>
          <a:ln/>
        </p:spPr>
      </p:sp>
      <p:sp>
        <p:nvSpPr>
          <p:cNvPr id="10" name="Text 8"/>
          <p:cNvSpPr/>
          <p:nvPr/>
        </p:nvSpPr>
        <p:spPr>
          <a:xfrm>
            <a:off x="6492240" y="1691640"/>
            <a:ext cx="4754880" cy="365760"/>
          </a:xfrm>
          <a:prstGeom prst="rect">
            <a:avLst/>
          </a:prstGeom>
          <a:noFill/>
          <a:ln/>
        </p:spPr>
        <p:txBody>
          <a:bodyPr wrap="square" lIns="0" tIns="0" rIns="0" bIns="0" rtlCol="0" anchor="ctr"/>
          <a:lstStyle/>
          <a:p>
            <a:pPr indent="0" marL="0">
              <a:buNone/>
            </a:pPr>
            <a:r>
              <a:rPr lang="en-US" sz="1600" b="1" dirty="0">
                <a:solidFill>
                  <a:srgbClr val="1C2B24"/>
                </a:solidFill>
                <a:latin typeface="Cambria" pitchFamily="34" charset="0"/>
                <a:ea typeface="Cambria" pitchFamily="34" charset="-122"/>
                <a:cs typeface="Cambria" pitchFamily="34" charset="-120"/>
              </a:rPr>
              <a:t>Dispatch (qui voit quoi)</a:t>
            </a:r>
            <a:endParaRPr lang="en-US" sz="1600" dirty="0"/>
          </a:p>
        </p:txBody>
      </p:sp>
      <p:sp>
        <p:nvSpPr>
          <p:cNvPr id="11" name="Text 9"/>
          <p:cNvSpPr/>
          <p:nvPr/>
        </p:nvSpPr>
        <p:spPr>
          <a:xfrm>
            <a:off x="6492240" y="2103120"/>
            <a:ext cx="4983480" cy="24688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Les comptes suivent l'organigramme officiel de l'ARCEP (délibération 2024) : gouvernance, exécutif, 11 directions</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L'admin système affecte les modules par direction ou par compte — effet immédiat, sans reconnexion</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Les opérateurs ont un espace cloisonné limité à leurs propres flux</a:t>
            </a:r>
            <a:endParaRPr lang="en-US" sz="1150" dirty="0"/>
          </a:p>
          <a:p>
            <a:pPr marL="342900" indent="-342900">
              <a:spcAft>
                <a:spcPts val="700"/>
              </a:spcAft>
              <a:buSzPct val="100000"/>
              <a:buChar char="•"/>
            </a:pPr>
            <a:r>
              <a:rPr lang="en-US" sz="1150" dirty="0">
                <a:solidFill>
                  <a:srgbClr val="3A4A42"/>
                </a:solidFill>
                <a:latin typeface="Arial" pitchFamily="34" charset="0"/>
                <a:ea typeface="Arial" pitchFamily="34" charset="-122"/>
                <a:cs typeface="Arial" pitchFamily="34" charset="-120"/>
              </a:rPr>
              <a:t>Chaque affectation/révocation est journalisée avec son détail</a:t>
            </a:r>
            <a:endParaRPr lang="en-US" sz="1150" dirty="0"/>
          </a:p>
        </p:txBody>
      </p:sp>
      <p:sp>
        <p:nvSpPr>
          <p:cNvPr id="12" name="Shape 10"/>
          <p:cNvSpPr/>
          <p:nvPr/>
        </p:nvSpPr>
        <p:spPr>
          <a:xfrm>
            <a:off x="502920" y="4983480"/>
            <a:ext cx="11201400" cy="841248"/>
          </a:xfrm>
          <a:prstGeom prst="roundRect">
            <a:avLst>
              <a:gd name="adj" fmla="val 9783"/>
            </a:avLst>
          </a:prstGeom>
          <a:solidFill>
            <a:srgbClr val="EAF3EE"/>
          </a:solidFill>
          <a:ln/>
        </p:spPr>
      </p:sp>
      <p:sp>
        <p:nvSpPr>
          <p:cNvPr id="13" name="Text 11"/>
          <p:cNvSpPr/>
          <p:nvPr/>
        </p:nvSpPr>
        <p:spPr>
          <a:xfrm>
            <a:off x="667512" y="505663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séparation des tâches : l'admin système distribue les accès mais n'a aucun module métier par défaut ; les directions métier ne peuvent pas modifier les droits. Personne ne cumule les deux pouvoirs.</a:t>
            </a:r>
            <a:endParaRPr lang="en-US" sz="1050" dirty="0"/>
          </a:p>
        </p:txBody>
      </p:sp>
      <p:sp>
        <p:nvSpPr>
          <p:cNvPr id="14" name="Text 12"/>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E7A4F"/>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N3</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M14 · Mesure indépendante</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Le cœur du dispositif : les sondes de l'ARCEP testent les services comme un usager.</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7863840" cy="914400"/>
        </p:xfrm>
        <a:graphic>
          <a:graphicData uri="http://schemas.openxmlformats.org/drawingml/2006/table">
            <a:tbl>
              <a:tblPr/>
              <a:tblGrid>
                <a:gridCol w="1737360"/>
                <a:gridCol w="1600200"/>
                <a:gridCol w="1600200"/>
                <a:gridCol w="1188720"/>
                <a:gridCol w="1737360"/>
              </a:tblGrid>
              <a:tr h="384048">
                <a:tc>
                  <a:txBody>
                    <a:bodyPr/>
                    <a:lstStyle/>
                    <a:p>
                      <a:pPr indent="0" marL="0">
                        <a:buNone/>
                      </a:pPr>
                      <a:r>
                        <a:rPr lang="en-US" sz="1050" b="1" dirty="0">
                          <a:solidFill>
                            <a:srgbClr val="FFFFFF"/>
                          </a:solidFill>
                          <a:latin typeface="Arial" pitchFamily="34" charset="0"/>
                          <a:ea typeface="Arial" pitchFamily="34" charset="-122"/>
                          <a:cs typeface="Arial" pitchFamily="34" charset="-120"/>
                        </a:rPr>
                        <a:t>Opérateur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1E7A4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Succès déclaré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1E7A4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Succès mesuré</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1E7A4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Écart (pts)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1E7A4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Verdict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1E7A4F"/>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Airtel Money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96,7 % (D)</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97,2 %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−0,5</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b="1" dirty="0">
                          <a:solidFill>
                            <a:srgbClr val="1E7A4F"/>
                          </a:solidFill>
                          <a:latin typeface="Arial" pitchFamily="34" charset="0"/>
                          <a:ea typeface="Arial" pitchFamily="34" charset="-122"/>
                          <a:cs typeface="Arial" pitchFamily="34" charset="-120"/>
                        </a:rPr>
                        <a:t>CONFORME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Moov Money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98,9 % (D)</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96,4 %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b="1" dirty="0">
                          <a:solidFill>
                            <a:srgbClr val="B23A3A"/>
                          </a:solidFill>
                          <a:latin typeface="Arial" pitchFamily="34" charset="0"/>
                          <a:ea typeface="Arial" pitchFamily="34" charset="-122"/>
                          <a:cs typeface="Arial" pitchFamily="34" charset="-120"/>
                        </a:rPr>
                        <a:t>+2,5</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b="1" dirty="0">
                          <a:solidFill>
                            <a:srgbClr val="B23A3A"/>
                          </a:solidFill>
                          <a:latin typeface="Arial" pitchFamily="34" charset="0"/>
                          <a:ea typeface="Arial" pitchFamily="34" charset="-122"/>
                          <a:cs typeface="Arial" pitchFamily="34" charset="-120"/>
                        </a:rPr>
                        <a:t>ÉCART → contradictoire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3A4A42"/>
                          </a:solidFill>
                          <a:latin typeface="Arial" pitchFamily="34" charset="0"/>
                          <a:ea typeface="Arial" pitchFamily="34" charset="-122"/>
                          <a:cs typeface="Arial" pitchFamily="34" charset="-120"/>
                        </a:rPr>
                        <a:t>GIMAC Pay</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95,9 % (D)</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95,6 % (M)</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+0,3</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b="1" dirty="0">
                          <a:solidFill>
                            <a:srgbClr val="1E7A4F"/>
                          </a:solidFill>
                          <a:latin typeface="Arial" pitchFamily="34" charset="0"/>
                          <a:ea typeface="Arial" pitchFamily="34" charset="-122"/>
                          <a:cs typeface="Arial" pitchFamily="34" charset="-120"/>
                        </a:rPr>
                        <a:t>CONFORME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bl>
          </a:graphicData>
        </a:graphic>
      </p:graphicFrame>
      <p:sp>
        <p:nvSpPr>
          <p:cNvPr id="7" name="Text 4"/>
          <p:cNvSpPr/>
          <p:nvPr/>
        </p:nvSpPr>
        <p:spPr>
          <a:xfrm>
            <a:off x="502920" y="3200400"/>
            <a:ext cx="7315200" cy="274320"/>
          </a:xfrm>
          <a:prstGeom prst="rect">
            <a:avLst/>
          </a:prstGeom>
          <a:noFill/>
          <a:ln/>
        </p:spPr>
        <p:txBody>
          <a:bodyPr wrap="square" lIns="0" tIns="0" rIns="0" bIns="0" rtlCol="0" anchor="ctr"/>
          <a:lstStyle/>
          <a:p>
            <a:pPr indent="0" marL="0">
              <a:buNone/>
            </a:pPr>
            <a:r>
              <a:rPr lang="en-US" sz="950" i="1" dirty="0">
                <a:solidFill>
                  <a:srgbClr val="7A8A82"/>
                </a:solidFill>
                <a:latin typeface="Arial" pitchFamily="34" charset="0"/>
                <a:ea typeface="Arial" pitchFamily="34" charset="-122"/>
                <a:cs typeface="Arial" pitchFamily="34" charset="-120"/>
              </a:rPr>
              <a:t>(D) = déclaré · (M) = mesuré — valeurs illustratives (données simulées).</a:t>
            </a:r>
            <a:endParaRPr lang="en-US" sz="950" dirty="0"/>
          </a:p>
        </p:txBody>
      </p:sp>
      <p:sp>
        <p:nvSpPr>
          <p:cNvPr id="8" name="Shape 5"/>
          <p:cNvSpPr/>
          <p:nvPr/>
        </p:nvSpPr>
        <p:spPr>
          <a:xfrm>
            <a:off x="8641080" y="1508760"/>
            <a:ext cx="3063240" cy="1965960"/>
          </a:xfrm>
          <a:prstGeom prst="roundRect">
            <a:avLst>
              <a:gd name="adj" fmla="val 4186"/>
            </a:avLst>
          </a:prstGeom>
          <a:solidFill>
            <a:srgbClr val="F1F5F3"/>
          </a:solidFill>
          <a:ln/>
        </p:spPr>
      </p:sp>
      <p:sp>
        <p:nvSpPr>
          <p:cNvPr id="9" name="Text 6"/>
          <p:cNvSpPr/>
          <p:nvPr/>
        </p:nvSpPr>
        <p:spPr>
          <a:xfrm>
            <a:off x="8823960" y="1691640"/>
            <a:ext cx="2697480" cy="1645920"/>
          </a:xfrm>
          <a:prstGeom prst="rect">
            <a:avLst/>
          </a:prstGeom>
          <a:noFill/>
          <a:ln/>
        </p:spPr>
        <p:txBody>
          <a:bodyPr wrap="square" lIns="0" tIns="0" rIns="0" bIns="0" rtlCol="0" anchor="ctr"/>
          <a:lstStyle/>
          <a:p>
            <a:pPr indent="0" marL="0">
              <a:buNone/>
            </a:pPr>
            <a:r>
              <a:rPr lang="en-US" sz="1100" b="1" dirty="0">
                <a:solidFill>
                  <a:srgbClr val="0E5C3F"/>
                </a:solidFill>
                <a:latin typeface="Arial" pitchFamily="34" charset="0"/>
                <a:ea typeface="Arial" pitchFamily="34" charset="-122"/>
                <a:cs typeface="Arial" pitchFamily="34" charset="-120"/>
              </a:rPr>
              <a:t>Le journal probant : </a:t>
            </a:r>
            <a:pPr indent="0" marL="0">
              <a:buNone/>
            </a:pPr>
            <a:r>
              <a:rPr lang="en-US" sz="1100" dirty="0">
                <a:solidFill>
                  <a:srgbClr val="3A4A42"/>
                </a:solidFill>
                <a:latin typeface="Arial" pitchFamily="34" charset="0"/>
                <a:ea typeface="Arial" pitchFamily="34" charset="-122"/>
                <a:cs typeface="Arial" pitchFamily="34" charset="-120"/>
              </a:rPr>
              <a:t>chaque mesure de sonde est scellée dans une chaîne signée dédiée, vérifiable à l'écran (« VALIDE »). C'est la preuve qui rend l'écart opposable.</a:t>
            </a:r>
            <a:endParaRPr lang="en-US" sz="1100" dirty="0"/>
          </a:p>
        </p:txBody>
      </p:sp>
      <p:sp>
        <p:nvSpPr>
          <p:cNvPr id="10" name="Text 7"/>
          <p:cNvSpPr/>
          <p:nvPr/>
        </p:nvSpPr>
        <p:spPr>
          <a:xfrm>
            <a:off x="502920" y="3657600"/>
            <a:ext cx="5486400" cy="320040"/>
          </a:xfrm>
          <a:prstGeom prst="rect">
            <a:avLst/>
          </a:prstGeom>
          <a:noFill/>
          <a:ln/>
        </p:spPr>
        <p:txBody>
          <a:bodyPr wrap="square" lIns="0" tIns="0" rIns="0" bIns="0" rtlCol="0" anchor="ctr"/>
          <a:lstStyle/>
          <a:p>
            <a:pPr indent="0" marL="0">
              <a:buNone/>
            </a:pPr>
            <a:r>
              <a:rPr lang="en-US" sz="1300" b="1" dirty="0">
                <a:solidFill>
                  <a:srgbClr val="0E5C3F"/>
                </a:solidFill>
                <a:latin typeface="Arial" pitchFamily="34" charset="0"/>
                <a:ea typeface="Arial" pitchFamily="34" charset="-122"/>
                <a:cs typeface="Arial" pitchFamily="34" charset="-120"/>
              </a:rPr>
              <a:t>Autres blocs de l'écran</a:t>
            </a:r>
            <a:endParaRPr lang="en-US" sz="1300" dirty="0"/>
          </a:p>
        </p:txBody>
      </p:sp>
      <p:sp>
        <p:nvSpPr>
          <p:cNvPr id="11" name="Text 8"/>
          <p:cNvSpPr/>
          <p:nvPr/>
        </p:nvSpPr>
        <p:spPr>
          <a:xfrm>
            <a:off x="502920" y="4023360"/>
            <a:ext cx="10972800" cy="15544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A4A42"/>
                </a:solidFill>
                <a:latin typeface="Arial" pitchFamily="34" charset="0"/>
                <a:ea typeface="Arial" pitchFamily="34" charset="-122"/>
                <a:cs typeface="Arial" pitchFamily="34" charset="-120"/>
              </a:rPr>
              <a:t>Qualité mesurée par canal (USSD, STK, application, API) — mesures, succès, latences</a:t>
            </a:r>
            <a:endParaRPr lang="en-US" sz="1200" dirty="0"/>
          </a:p>
          <a:p>
            <a:pPr marL="342900" indent="-342900">
              <a:spcAft>
                <a:spcPts val="600"/>
              </a:spcAft>
              <a:buSzPct val="100000"/>
              <a:buChar char="•"/>
            </a:pPr>
            <a:r>
              <a:rPr lang="en-US" sz="1200" dirty="0">
                <a:solidFill>
                  <a:srgbClr val="3A4A42"/>
                </a:solidFill>
                <a:latin typeface="Arial" pitchFamily="34" charset="0"/>
                <a:ea typeface="Arial" pitchFamily="34" charset="-122"/>
                <a:cs typeface="Arial" pitchFamily="34" charset="-120"/>
              </a:rPr>
              <a:t>Constats tarifaires : frais réellement prélevés vs grille officielle (tolérance zéro)</a:t>
            </a:r>
            <a:endParaRPr lang="en-US" sz="1200" dirty="0"/>
          </a:p>
          <a:p>
            <a:pPr marL="342900" indent="-342900">
              <a:spcAft>
                <a:spcPts val="600"/>
              </a:spcAft>
              <a:buSzPct val="100000"/>
              <a:buChar char="•"/>
            </a:pPr>
            <a:r>
              <a:rPr lang="en-US" sz="1200" dirty="0">
                <a:solidFill>
                  <a:srgbClr val="3A4A42"/>
                </a:solidFill>
                <a:latin typeface="Arial" pitchFamily="34" charset="0"/>
                <a:ea typeface="Arial" pitchFamily="34" charset="-122"/>
                <a:cs typeface="Arial" pitchFamily="34" charset="-120"/>
              </a:rPr>
              <a:t>Procédures contradictoires ouvertes, avec leurs références de dossier</a:t>
            </a:r>
            <a:endParaRPr lang="en-US" sz="1200" dirty="0"/>
          </a:p>
          <a:p>
            <a:pPr marL="342900" indent="-342900">
              <a:spcAft>
                <a:spcPts val="600"/>
              </a:spcAft>
              <a:buSzPct val="100000"/>
              <a:buChar char="•"/>
            </a:pPr>
            <a:r>
              <a:rPr lang="en-US" sz="1200" dirty="0">
                <a:solidFill>
                  <a:srgbClr val="3A4A42"/>
                </a:solidFill>
                <a:latin typeface="Arial" pitchFamily="34" charset="0"/>
                <a:ea typeface="Arial" pitchFamily="34" charset="-122"/>
                <a:cs typeface="Arial" pitchFamily="34" charset="-120"/>
              </a:rPr>
              <a:t>Bouton « Lancer une campagne » (action journalisée) — campagnes automatiques sinon</a:t>
            </a:r>
            <a:endParaRPr lang="en-US" sz="1200" dirty="0"/>
          </a:p>
        </p:txBody>
      </p:sp>
      <p:sp>
        <p:nvSpPr>
          <p:cNvPr id="12" name="Shape 9"/>
          <p:cNvSpPr/>
          <p:nvPr/>
        </p:nvSpPr>
        <p:spPr>
          <a:xfrm>
            <a:off x="502920" y="5577840"/>
            <a:ext cx="11201400" cy="731520"/>
          </a:xfrm>
          <a:prstGeom prst="roundRect">
            <a:avLst>
              <a:gd name="adj" fmla="val 11250"/>
            </a:avLst>
          </a:prstGeom>
          <a:solidFill>
            <a:srgbClr val="EAF3EE"/>
          </a:solidFill>
          <a:ln/>
        </p:spPr>
      </p:sp>
      <p:sp>
        <p:nvSpPr>
          <p:cNvPr id="13" name="Text 10"/>
          <p:cNvSpPr/>
          <p:nvPr/>
        </p:nvSpPr>
        <p:spPr>
          <a:xfrm>
            <a:off x="667512" y="5650992"/>
            <a:ext cx="10872216" cy="585216"/>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un verdict ÉCART n'est pas une sanction : il ouvre un dossier contradictoire où l'opérateur présente ses explications — la trace écrite est constituée dès la première minute.</a:t>
            </a:r>
            <a:endParaRPr lang="en-US" sz="1050" dirty="0"/>
          </a:p>
        </p:txBody>
      </p:sp>
      <p:sp>
        <p:nvSpPr>
          <p:cNvPr id="14" name="Text 11"/>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2F6DB5"/>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M14 · Accès des tiers (PSP &amp; fintechs)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Concurrence et innovation : l'accès équitable aux canaux des opérateurs.</a:t>
            </a:r>
            <a:endParaRPr lang="en-US" sz="1300" dirty="0"/>
          </a:p>
        </p:txBody>
      </p:sp>
      <p:sp>
        <p:nvSpPr>
          <p:cNvPr id="6" name="Text 4"/>
          <p:cNvSpPr/>
          <p:nvPr/>
        </p:nvSpPr>
        <p:spPr>
          <a:xfrm>
            <a:off x="502920" y="1417320"/>
            <a:ext cx="11155680" cy="365760"/>
          </a:xfrm>
          <a:prstGeom prst="rect">
            <a:avLst/>
          </a:prstGeom>
          <a:noFill/>
          <a:ln/>
        </p:spPr>
        <p:txBody>
          <a:bodyPr wrap="square" lIns="0" tIns="0" rIns="0" bIns="0" rtlCol="0" anchor="ctr"/>
          <a:lstStyle/>
          <a:p>
            <a:pPr indent="0" marL="0">
              <a:buNone/>
            </a:pPr>
            <a:r>
              <a:rPr lang="en-US" sz="1250" b="1" dirty="0">
                <a:solidFill>
                  <a:srgbClr val="3A4A42"/>
                </a:solidFill>
                <a:latin typeface="Arial" pitchFamily="34" charset="0"/>
                <a:ea typeface="Arial" pitchFamily="34" charset="-122"/>
                <a:cs typeface="Arial" pitchFamily="34" charset="-120"/>
              </a:rPr>
              <a:t>Jalons réglementaires du raccordement : accusé ≤ 5 j ouvrés · réponse ≤ 30 j · mise en service ≤ 90 j</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6766560" cy="914400"/>
        </p:xfrm>
        <a:graphic>
          <a:graphicData uri="http://schemas.openxmlformats.org/drawingml/2006/table">
            <a:tbl>
              <a:tblPr/>
              <a:tblGrid>
                <a:gridCol w="1920240"/>
                <a:gridCol w="4846320"/>
              </a:tblGrid>
              <a:tr h="438912">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Colonne du registre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Signification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438912">
                <a:tc>
                  <a:txBody>
                    <a:bodyPr/>
                    <a:lstStyle/>
                    <a:p>
                      <a:pPr indent="0" marL="0">
                        <a:buNone/>
                      </a:pPr>
                      <a:r>
                        <a:rPr lang="en-US" sz="1050" dirty="0">
                          <a:solidFill>
                            <a:srgbClr val="3A4A42"/>
                          </a:solidFill>
                          <a:latin typeface="Arial" pitchFamily="34" charset="0"/>
                          <a:ea typeface="Arial" pitchFamily="34" charset="-122"/>
                          <a:cs typeface="Arial" pitchFamily="34" charset="-120"/>
                        </a:rPr>
                        <a:t>Demande / PSP / Hôte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La fintech demandeuse et l'opérateur qui doit la raccorder</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38912">
                <a:tc>
                  <a:txBody>
                    <a:bodyPr/>
                    <a:lstStyle/>
                    <a:p>
                      <a:pPr indent="0" marL="0">
                        <a:buNone/>
                      </a:pPr>
                      <a:r>
                        <a:rPr lang="en-US" sz="1050" dirty="0">
                          <a:solidFill>
                            <a:srgbClr val="3A4A42"/>
                          </a:solidFill>
                          <a:latin typeface="Arial" pitchFamily="34" charset="0"/>
                          <a:ea typeface="Arial" pitchFamily="34" charset="-122"/>
                          <a:cs typeface="Arial" pitchFamily="34" charset="-120"/>
                        </a:rPr>
                        <a:t>Canal</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USSD mutualisé ou dédié, API de gros, SMS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38912">
                <a:tc>
                  <a:txBody>
                    <a:bodyPr/>
                    <a:lstStyle/>
                    <a:p>
                      <a:pPr indent="0" marL="0">
                        <a:buNone/>
                      </a:pPr>
                      <a:r>
                        <a:rPr lang="en-US" sz="1050" dirty="0">
                          <a:solidFill>
                            <a:srgbClr val="3A4A42"/>
                          </a:solidFill>
                          <a:latin typeface="Arial" pitchFamily="34" charset="0"/>
                          <a:ea typeface="Arial" pitchFamily="34" charset="-122"/>
                          <a:cs typeface="Arial" pitchFamily="34" charset="-120"/>
                        </a:rPr>
                        <a:t>J0 → J3</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Délai du dépôt complet à la mise en service (ou âge si en cours)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38912">
                <a:tc>
                  <a:txBody>
                    <a:bodyPr/>
                    <a:lstStyle/>
                    <a:p>
                      <a:pPr indent="0" marL="0">
                        <a:buNone/>
                      </a:pPr>
                      <a:r>
                        <a:rPr lang="en-US" sz="1050" dirty="0">
                          <a:solidFill>
                            <a:srgbClr val="3A4A42"/>
                          </a:solidFill>
                          <a:latin typeface="Arial" pitchFamily="34" charset="0"/>
                          <a:ea typeface="Arial" pitchFamily="34" charset="-122"/>
                          <a:cs typeface="Arial" pitchFamily="34" charset="-120"/>
                        </a:rPr>
                        <a:t>Délais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b="1" dirty="0">
                          <a:solidFill>
                            <a:srgbClr val="3A4A42"/>
                          </a:solidFill>
                          <a:latin typeface="Arial" pitchFamily="34" charset="0"/>
                          <a:ea typeface="Arial" pitchFamily="34" charset="-122"/>
                          <a:cs typeface="Arial" pitchFamily="34" charset="-120"/>
                        </a:rPr>
                        <a:t>OK ou DÉPASSÉ vs les jalons réglementaires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bl>
          </a:graphicData>
        </a:graphic>
      </p:graphicFrame>
      <p:sp>
        <p:nvSpPr>
          <p:cNvPr id="8" name="Shape 5"/>
          <p:cNvSpPr/>
          <p:nvPr/>
        </p:nvSpPr>
        <p:spPr>
          <a:xfrm>
            <a:off x="7543800" y="1874520"/>
            <a:ext cx="4160520" cy="3017520"/>
          </a:xfrm>
          <a:prstGeom prst="roundRect">
            <a:avLst>
              <a:gd name="adj" fmla="val 2727"/>
            </a:avLst>
          </a:prstGeom>
          <a:solidFill>
            <a:srgbClr val="F1F5F3"/>
          </a:solidFill>
          <a:ln/>
        </p:spPr>
      </p:sp>
      <p:sp>
        <p:nvSpPr>
          <p:cNvPr id="9" name="Text 6"/>
          <p:cNvSpPr/>
          <p:nvPr/>
        </p:nvSpPr>
        <p:spPr>
          <a:xfrm>
            <a:off x="7772400" y="2057400"/>
            <a:ext cx="3657600" cy="320040"/>
          </a:xfrm>
          <a:prstGeom prst="rect">
            <a:avLst/>
          </a:prstGeom>
          <a:noFill/>
          <a:ln/>
        </p:spPr>
        <p:txBody>
          <a:bodyPr wrap="square" lIns="0" tIns="0" rIns="0" bIns="0" rtlCol="0" anchor="ctr"/>
          <a:lstStyle/>
          <a:p>
            <a:pPr indent="0" marL="0">
              <a:buNone/>
            </a:pPr>
            <a:r>
              <a:rPr lang="en-US" sz="1500" b="1" dirty="0">
                <a:solidFill>
                  <a:srgbClr val="1C2B24"/>
                </a:solidFill>
                <a:latin typeface="Cambria" pitchFamily="34" charset="0"/>
                <a:ea typeface="Cambria" pitchFamily="34" charset="-122"/>
                <a:cs typeface="Cambria" pitchFamily="34" charset="-120"/>
              </a:rPr>
              <a:t>Les 4 indicateurs AT</a:t>
            </a:r>
            <a:endParaRPr lang="en-US" sz="1500" dirty="0"/>
          </a:p>
        </p:txBody>
      </p:sp>
      <p:sp>
        <p:nvSpPr>
          <p:cNvPr id="10" name="Text 7"/>
          <p:cNvSpPr/>
          <p:nvPr/>
        </p:nvSpPr>
        <p:spPr>
          <a:xfrm>
            <a:off x="7772400" y="2468880"/>
            <a:ext cx="3749040" cy="237744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3A4A42"/>
                </a:solidFill>
                <a:latin typeface="Arial" pitchFamily="34" charset="0"/>
                <a:ea typeface="Arial" pitchFamily="34" charset="-122"/>
                <a:cs typeface="Arial" pitchFamily="34" charset="-120"/>
              </a:rPr>
              <a:t>AT-01 — délai médian de raccordement</a:t>
            </a:r>
            <a:endParaRPr lang="en-US" sz="1050" dirty="0"/>
          </a:p>
          <a:p>
            <a:pPr marL="342900" indent="-342900">
              <a:spcAft>
                <a:spcPts val="600"/>
              </a:spcAft>
              <a:buSzPct val="100000"/>
              <a:buChar char="•"/>
            </a:pPr>
            <a:r>
              <a:rPr lang="en-US" sz="1050" dirty="0">
                <a:solidFill>
                  <a:srgbClr val="3A4A42"/>
                </a:solidFill>
                <a:latin typeface="Arial" pitchFamily="34" charset="0"/>
                <a:ea typeface="Arial" pitchFamily="34" charset="-122"/>
                <a:cs typeface="Arial" pitchFamily="34" charset="-120"/>
              </a:rPr>
              <a:t>AT-02 — demandes en attente &gt; 30 j / &gt; 90 j</a:t>
            </a:r>
            <a:endParaRPr lang="en-US" sz="1050" dirty="0"/>
          </a:p>
          <a:p>
            <a:pPr marL="342900" indent="-342900">
              <a:spcAft>
                <a:spcPts val="600"/>
              </a:spcAft>
              <a:buSzPct val="100000"/>
              <a:buChar char="•"/>
            </a:pPr>
            <a:r>
              <a:rPr lang="en-US" sz="1050" dirty="0">
                <a:solidFill>
                  <a:srgbClr val="3A4A42"/>
                </a:solidFill>
                <a:latin typeface="Arial" pitchFamily="34" charset="0"/>
                <a:ea typeface="Arial" pitchFamily="34" charset="-122"/>
                <a:cs typeface="Arial" pitchFamily="34" charset="-120"/>
              </a:rPr>
              <a:t>AT-03 — tarifs de gros déclarés (conditions différenciées signalées)</a:t>
            </a:r>
            <a:endParaRPr lang="en-US" sz="1050" dirty="0"/>
          </a:p>
          <a:p>
            <a:pPr marL="342900" indent="-342900">
              <a:spcAft>
                <a:spcPts val="600"/>
              </a:spcAft>
              <a:buSzPct val="100000"/>
              <a:buChar char="•"/>
            </a:pPr>
            <a:r>
              <a:rPr lang="en-US" sz="1050" dirty="0">
                <a:solidFill>
                  <a:srgbClr val="3A4A42"/>
                </a:solidFill>
                <a:latin typeface="Arial" pitchFamily="34" charset="0"/>
                <a:ea typeface="Arial" pitchFamily="34" charset="-122"/>
                <a:cs typeface="Arial" pitchFamily="34" charset="-120"/>
              </a:rPr>
              <a:t>AT-04 — qualité comparée : wallet de l'opérateur vs canal offert aux PSP, mesurée par les MÊMES sondes, dans les mêmes cellules — l'écart &gt; 2 pts est À INSTRUIRE</a:t>
            </a:r>
            <a:endParaRPr lang="en-US" sz="1050" dirty="0"/>
          </a:p>
        </p:txBody>
      </p:sp>
      <p:sp>
        <p:nvSpPr>
          <p:cNvPr id="11" name="Shape 8"/>
          <p:cNvSpPr/>
          <p:nvPr/>
        </p:nvSpPr>
        <p:spPr>
          <a:xfrm>
            <a:off x="502920" y="5029200"/>
            <a:ext cx="11201400" cy="841248"/>
          </a:xfrm>
          <a:prstGeom prst="roundRect">
            <a:avLst>
              <a:gd name="adj" fmla="val 9783"/>
            </a:avLst>
          </a:prstGeom>
          <a:solidFill>
            <a:srgbClr val="EAF3EE"/>
          </a:solidFill>
          <a:ln/>
        </p:spPr>
      </p:sp>
      <p:sp>
        <p:nvSpPr>
          <p:cNvPr id="12" name="Text 9"/>
          <p:cNvSpPr/>
          <p:nvPr/>
        </p:nvSpPr>
        <p:spPr>
          <a:xfrm>
            <a:off x="667512" y="510235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AT-04 est l'indicateur de non-discrimination : si le canal USSD offert aux fintechs est mesurablement moins bon que celui du wallet maison, l'opérateur favorise son propre service. L'écran liste aussi les plaintes pour discrimination en instruction (délai de 45 jours).</a:t>
            </a:r>
            <a:endParaRPr lang="en-US" sz="1050" dirty="0"/>
          </a:p>
        </p:txBody>
      </p:sp>
      <p:sp>
        <p:nvSpPr>
          <p:cNvPr id="13" name="Text 10"/>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93B"/>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RC</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M14 · Réclamations consommateurs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La voix des usagers, corrélée aux faits techniques.</a:t>
            </a:r>
            <a:endParaRPr lang="en-US" sz="1300" dirty="0"/>
          </a:p>
        </p:txBody>
      </p:sp>
      <p:sp>
        <p:nvSpPr>
          <p:cNvPr id="6" name="Text 4"/>
          <p:cNvSpPr/>
          <p:nvPr/>
        </p:nvSpPr>
        <p:spPr>
          <a:xfrm>
            <a:off x="502920" y="1417320"/>
            <a:ext cx="5486400" cy="320040"/>
          </a:xfrm>
          <a:prstGeom prst="rect">
            <a:avLst/>
          </a:prstGeom>
          <a:noFill/>
          <a:ln/>
        </p:spPr>
        <p:txBody>
          <a:bodyPr wrap="square" lIns="0" tIns="0" rIns="0" bIns="0" rtlCol="0" anchor="ctr"/>
          <a:lstStyle/>
          <a:p>
            <a:pPr indent="0" marL="0">
              <a:buNone/>
            </a:pPr>
            <a:r>
              <a:rPr lang="en-US" sz="1300" b="1" dirty="0">
                <a:solidFill>
                  <a:srgbClr val="0E5C3F"/>
                </a:solidFill>
                <a:latin typeface="Arial" pitchFamily="34" charset="0"/>
                <a:ea typeface="Arial" pitchFamily="34" charset="-122"/>
                <a:cs typeface="Arial" pitchFamily="34" charset="-120"/>
              </a:rPr>
              <a:t>Ce que montre l'écran</a:t>
            </a:r>
            <a:endParaRPr lang="en-US" sz="1300" dirty="0"/>
          </a:p>
        </p:txBody>
      </p:sp>
      <p:sp>
        <p:nvSpPr>
          <p:cNvPr id="7" name="Text 5"/>
          <p:cNvSpPr/>
          <p:nvPr/>
        </p:nvSpPr>
        <p:spPr>
          <a:xfrm>
            <a:off x="502920" y="1783080"/>
            <a:ext cx="5760720" cy="23774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Compteurs : reçues, en cours, % liées à un incident technique, délai médian de traitement</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Par motif : transaction non remboursée, frais contestés, accès au compte, agent, qualité du canal</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Par opérateur : volumes, part liée aux incidents, délais</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Corrélation : ventilation des réclamations par code d'erreur technique d'origine</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29400" y="1463040"/>
          <a:ext cx="5074920" cy="914400"/>
        </p:xfrm>
        <a:graphic>
          <a:graphicData uri="http://schemas.openxmlformats.org/drawingml/2006/table">
            <a:tbl>
              <a:tblPr/>
              <a:tblGrid>
                <a:gridCol w="1828800"/>
                <a:gridCol w="3246120"/>
              </a:tblGrid>
              <a:tr h="420624">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Colonne (liste récente)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Signification</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Réf. / Heure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Identifiant de la réclamation et horodatage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Motif</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Catégorie normalisée du grief</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Incident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Code d'erreur de la transaction d'origine, si liée</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420624">
                <a:tc>
                  <a:txBody>
                    <a:bodyPr/>
                    <a:lstStyle/>
                    <a:p>
                      <a:pPr indent="0" marL="0">
                        <a:buNone/>
                      </a:pPr>
                      <a:r>
                        <a:rPr lang="en-US" sz="1050" dirty="0">
                          <a:solidFill>
                            <a:srgbClr val="3A4A42"/>
                          </a:solidFill>
                          <a:latin typeface="Arial" pitchFamily="34" charset="0"/>
                          <a:ea typeface="Arial" pitchFamily="34" charset="-122"/>
                          <a:cs typeface="Arial" pitchFamily="34" charset="-120"/>
                        </a:rPr>
                        <a:t>Statut</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50" dirty="0">
                          <a:solidFill>
                            <a:srgbClr val="3A4A42"/>
                          </a:solidFill>
                          <a:latin typeface="Arial" pitchFamily="34" charset="0"/>
                          <a:ea typeface="Arial" pitchFamily="34" charset="-122"/>
                          <a:cs typeface="Arial" pitchFamily="34" charset="-120"/>
                        </a:rPr>
                        <a:t>CLOSE ou EN COURS</a:t>
                      </a:r>
                      <a:endParaRPr lang="en-US" sz="105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bl>
          </a:graphicData>
        </a:graphic>
      </p:graphicFrame>
      <p:sp>
        <p:nvSpPr>
          <p:cNvPr id="9" name="Shape 6"/>
          <p:cNvSpPr/>
          <p:nvPr/>
        </p:nvSpPr>
        <p:spPr>
          <a:xfrm>
            <a:off x="502920" y="4617720"/>
            <a:ext cx="11201400" cy="1051560"/>
          </a:xfrm>
          <a:prstGeom prst="roundRect">
            <a:avLst>
              <a:gd name="adj" fmla="val 7826"/>
            </a:avLst>
          </a:prstGeom>
          <a:solidFill>
            <a:srgbClr val="EAF3EE"/>
          </a:solidFill>
          <a:ln/>
        </p:spPr>
      </p:sp>
      <p:sp>
        <p:nvSpPr>
          <p:cNvPr id="10" name="Text 7"/>
          <p:cNvSpPr/>
          <p:nvPr/>
        </p:nvSpPr>
        <p:spPr>
          <a:xfrm>
            <a:off x="667512" y="4690872"/>
            <a:ext cx="10872216" cy="905256"/>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la corrélation est l'apport décisif : une vague de réclamations « transaction non remboursée » qui coïncide avec des timeouts (code 91) désigne un incident technique de l'opérateur, pas des cas individuels. La réclamation porte l'identifiant de la transaction scellée — le dossier est constitué d'office. Numéros toujours masqués.</a:t>
            </a:r>
            <a:endParaRPr lang="en-US" sz="1050" dirty="0"/>
          </a:p>
        </p:txBody>
      </p:sp>
      <p:sp>
        <p:nvSpPr>
          <p:cNvPr id="11" name="Text 8"/>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0A3D2B"/>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SP</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M14 · Services financiers postaux</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Le mandat postal : mandats, versements, retraits — et l'inclusion territoriale.</a:t>
            </a:r>
            <a:endParaRPr lang="en-US" sz="1300" dirty="0"/>
          </a:p>
        </p:txBody>
      </p:sp>
      <p:sp>
        <p:nvSpPr>
          <p:cNvPr id="6" name="Text 4"/>
          <p:cNvSpPr/>
          <p:nvPr/>
        </p:nvSpPr>
        <p:spPr>
          <a:xfrm>
            <a:off x="502920" y="1417320"/>
            <a:ext cx="5486400" cy="320040"/>
          </a:xfrm>
          <a:prstGeom prst="rect">
            <a:avLst/>
          </a:prstGeom>
          <a:noFill/>
          <a:ln/>
        </p:spPr>
        <p:txBody>
          <a:bodyPr wrap="square" lIns="0" tIns="0" rIns="0" bIns="0" rtlCol="0" anchor="ctr"/>
          <a:lstStyle/>
          <a:p>
            <a:pPr indent="0" marL="0">
              <a:buNone/>
            </a:pPr>
            <a:r>
              <a:rPr lang="en-US" sz="1300" b="1" dirty="0">
                <a:solidFill>
                  <a:srgbClr val="0E5C3F"/>
                </a:solidFill>
                <a:latin typeface="Arial" pitchFamily="34" charset="0"/>
                <a:ea typeface="Arial" pitchFamily="34" charset="-122"/>
                <a:cs typeface="Arial" pitchFamily="34" charset="-120"/>
              </a:rPr>
              <a:t>Ce que montre l'écran</a:t>
            </a:r>
            <a:endParaRPr lang="en-US" sz="1300" dirty="0"/>
          </a:p>
        </p:txBody>
      </p:sp>
      <p:sp>
        <p:nvSpPr>
          <p:cNvPr id="7" name="Text 5"/>
          <p:cNvSpPr/>
          <p:nvPr/>
        </p:nvSpPr>
        <p:spPr>
          <a:xfrm>
            <a:off x="502920" y="1783080"/>
            <a:ext cx="5760720" cy="228600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SP-01 — réseau des points de service par province (contrôlé par campagnes mystères)</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SP-02 — activité par service : mandats nationaux/internationaux, versements, retraits</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SP-03/04 — disponibilité du SI aux guichets et délai médian des mandats</a:t>
            </a:r>
            <a:endParaRPr lang="en-US" sz="1200" dirty="0"/>
          </a:p>
          <a:p>
            <a:pPr marL="342900" indent="-342900">
              <a:spcAft>
                <a:spcPts val="700"/>
              </a:spcAft>
              <a:buSzPct val="100000"/>
              <a:buChar char="•"/>
            </a:pPr>
            <a:r>
              <a:rPr lang="en-US" sz="1200" dirty="0">
                <a:solidFill>
                  <a:srgbClr val="3A4A42"/>
                </a:solidFill>
                <a:latin typeface="Arial" pitchFamily="34" charset="0"/>
                <a:ea typeface="Arial" pitchFamily="34" charset="-122"/>
                <a:cs typeface="Arial" pitchFamily="34" charset="-120"/>
              </a:rPr>
              <a:t>SP-05 — passerelle poste ↔ mobile money (intégration à l'écosystème)</a:t>
            </a:r>
            <a:endParaRPr lang="en-US" sz="1200" dirty="0"/>
          </a:p>
        </p:txBody>
      </p:sp>
      <p:sp>
        <p:nvSpPr>
          <p:cNvPr id="8" name="Shape 6"/>
          <p:cNvSpPr/>
          <p:nvPr/>
        </p:nvSpPr>
        <p:spPr>
          <a:xfrm>
            <a:off x="6629400" y="1463040"/>
            <a:ext cx="5074920" cy="2743200"/>
          </a:xfrm>
          <a:prstGeom prst="roundRect">
            <a:avLst>
              <a:gd name="adj" fmla="val 3000"/>
            </a:avLst>
          </a:prstGeom>
          <a:solidFill>
            <a:srgbClr val="EAF3EE"/>
          </a:solidFill>
          <a:ln/>
        </p:spPr>
      </p:sp>
      <p:sp>
        <p:nvSpPr>
          <p:cNvPr id="9" name="Text 7"/>
          <p:cNvSpPr/>
          <p:nvPr/>
        </p:nvSpPr>
        <p:spPr>
          <a:xfrm>
            <a:off x="6858000" y="1645920"/>
            <a:ext cx="4572000" cy="365760"/>
          </a:xfrm>
          <a:prstGeom prst="rect">
            <a:avLst/>
          </a:prstGeom>
          <a:noFill/>
          <a:ln/>
        </p:spPr>
        <p:txBody>
          <a:bodyPr wrap="square" lIns="0" tIns="0" rIns="0" bIns="0" rtlCol="0" anchor="ctr"/>
          <a:lstStyle/>
          <a:p>
            <a:pPr indent="0" marL="0">
              <a:buNone/>
            </a:pPr>
            <a:r>
              <a:rPr lang="en-US" sz="1600" b="1" dirty="0">
                <a:solidFill>
                  <a:srgbClr val="0E5C3F"/>
                </a:solidFill>
                <a:latin typeface="Cambria" pitchFamily="34" charset="0"/>
                <a:ea typeface="Cambria" pitchFamily="34" charset="-122"/>
                <a:cs typeface="Cambria" pitchFamily="34" charset="-120"/>
              </a:rPr>
              <a:t>SP-06 — l'indicateur d'inclusion</a:t>
            </a:r>
            <a:endParaRPr lang="en-US" sz="1600" dirty="0"/>
          </a:p>
        </p:txBody>
      </p:sp>
      <p:sp>
        <p:nvSpPr>
          <p:cNvPr id="10" name="Text 8"/>
          <p:cNvSpPr/>
          <p:nvPr/>
        </p:nvSpPr>
        <p:spPr>
          <a:xfrm>
            <a:off x="6858000" y="2103120"/>
            <a:ext cx="4617720" cy="1920240"/>
          </a:xfrm>
          <a:prstGeom prst="rect">
            <a:avLst/>
          </a:prstGeom>
          <a:noFill/>
          <a:ln/>
        </p:spPr>
        <p:txBody>
          <a:bodyPr wrap="square" lIns="0" tIns="0" rIns="0" bIns="0" rtlCol="0" anchor="ctr"/>
          <a:lstStyle/>
          <a:p>
            <a:pPr indent="0" marL="0">
              <a:buNone/>
            </a:pPr>
            <a:r>
              <a:rPr lang="en-US" sz="1200" b="1" dirty="0">
                <a:solidFill>
                  <a:srgbClr val="3A4A42"/>
                </a:solidFill>
                <a:latin typeface="Arial" pitchFamily="34" charset="0"/>
                <a:ea typeface="Arial" pitchFamily="34" charset="-122"/>
                <a:cs typeface="Arial" pitchFamily="34" charset="-120"/>
              </a:rPr>
              <a:t>La liste des localités où le bureau de poste est le SEUL accès financier</a:t>
            </a:r>
            <a:endParaRPr lang="en-US" sz="1200" dirty="0"/>
          </a:p>
          <a:p>
            <a:pPr indent="0" marL="0">
              <a:buNone/>
            </a:pPr>
            <a:endParaRPr lang="en-US" sz="1200" dirty="0"/>
          </a:p>
          <a:p>
            <a:pPr indent="0" marL="0">
              <a:buNone/>
            </a:pPr>
            <a:r>
              <a:rPr lang="en-US" sz="1200" dirty="0">
                <a:solidFill>
                  <a:srgbClr val="3A4A42"/>
                </a:solidFill>
                <a:latin typeface="Arial" pitchFamily="34" charset="0"/>
                <a:ea typeface="Arial" pitchFamily="34" charset="-122"/>
                <a:cs typeface="Arial" pitchFamily="34" charset="-120"/>
              </a:rPr>
              <a:t>(exemples simulés : Ndjolé, Booué, Mayumba, Mékambo). C'est la contribution mesurable de la poste au service universel — et l'argument budgétaire de son maintien dans ces territoires.</a:t>
            </a:r>
            <a:endParaRPr lang="en-US" sz="1200" dirty="0"/>
          </a:p>
        </p:txBody>
      </p:sp>
      <p:sp>
        <p:nvSpPr>
          <p:cNvPr id="11" name="Shape 9"/>
          <p:cNvSpPr/>
          <p:nvPr/>
        </p:nvSpPr>
        <p:spPr>
          <a:xfrm>
            <a:off x="502920" y="4572000"/>
            <a:ext cx="11201400" cy="841248"/>
          </a:xfrm>
          <a:prstGeom prst="roundRect">
            <a:avLst>
              <a:gd name="adj" fmla="val 9783"/>
            </a:avLst>
          </a:prstGeom>
          <a:solidFill>
            <a:srgbClr val="EAF3EE"/>
          </a:solidFill>
          <a:ln/>
        </p:spPr>
      </p:sp>
      <p:sp>
        <p:nvSpPr>
          <p:cNvPr id="12" name="Text 10"/>
          <p:cNvSpPr/>
          <p:nvPr/>
        </p:nvSpPr>
        <p:spPr>
          <a:xfrm>
            <a:off x="667512" y="4645152"/>
            <a:ext cx="10872216" cy="694944"/>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les volumes SP-02 sont DÉCLARÉS par l'opérateur postal (gabarits trimestriels) ; le réseau SP-01 est CONTRÔLÉ par les campagnes d'agents mystères qui visitent aussi les bureaux de poste. Les indicateurs SP alimentent le rapport annuel service universel.</a:t>
            </a:r>
            <a:endParaRPr lang="en-US" sz="1050" dirty="0"/>
          </a:p>
        </p:txBody>
      </p:sp>
      <p:sp>
        <p:nvSpPr>
          <p:cNvPr id="13" name="Text 11"/>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2F6DB5"/>
          </a:solidFill>
          <a:ln/>
        </p:spPr>
      </p:sp>
      <p:sp>
        <p:nvSpPr>
          <p:cNvPr id="3" name="Text 1"/>
          <p:cNvSpPr/>
          <p:nvPr/>
        </p:nvSpPr>
        <p:spPr>
          <a:xfrm>
            <a:off x="502920" y="438912"/>
            <a:ext cx="566928"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RBAC</a:t>
            </a:r>
            <a:endParaRPr lang="en-US" sz="1400" dirty="0"/>
          </a:p>
        </p:txBody>
      </p:sp>
      <p:sp>
        <p:nvSpPr>
          <p:cNvPr id="4" name="Text 2"/>
          <p:cNvSpPr/>
          <p:nvPr/>
        </p:nvSpPr>
        <p:spPr>
          <a:xfrm>
            <a:off x="1234440" y="384048"/>
            <a:ext cx="9509760" cy="502920"/>
          </a:xfrm>
          <a:prstGeom prst="rect">
            <a:avLst/>
          </a:prstGeom>
          <a:noFill/>
          <a:ln/>
        </p:spPr>
        <p:txBody>
          <a:bodyPr wrap="square" lIns="0" tIns="0" rIns="0" bIns="0" rtlCol="0" anchor="ctr"/>
          <a:lstStyle/>
          <a:p>
            <a:pPr indent="0" marL="0">
              <a:buNone/>
            </a:pPr>
            <a:r>
              <a:rPr lang="en-US" sz="3000" b="1" dirty="0">
                <a:solidFill>
                  <a:srgbClr val="1C2B24"/>
                </a:solidFill>
                <a:latin typeface="Cambria" pitchFamily="34" charset="0"/>
                <a:ea typeface="Cambria" pitchFamily="34" charset="-122"/>
                <a:cs typeface="Cambria" pitchFamily="34" charset="-120"/>
              </a:rPr>
              <a:t>Qui voit quoi — profils et espaces</a:t>
            </a:r>
            <a:endParaRPr lang="en-US" sz="3000" dirty="0"/>
          </a:p>
        </p:txBody>
      </p:sp>
      <p:sp>
        <p:nvSpPr>
          <p:cNvPr id="5" name="Text 3"/>
          <p:cNvSpPr/>
          <p:nvPr/>
        </p:nvSpPr>
        <p:spPr>
          <a:xfrm>
            <a:off x="1234440" y="896112"/>
            <a:ext cx="10241280" cy="320040"/>
          </a:xfrm>
          <a:prstGeom prst="rect">
            <a:avLst/>
          </a:prstGeom>
          <a:noFill/>
          <a:ln/>
        </p:spPr>
        <p:txBody>
          <a:bodyPr wrap="square" lIns="0" tIns="0" rIns="0" bIns="0" rtlCol="0" anchor="ctr"/>
          <a:lstStyle/>
          <a:p>
            <a:pPr indent="0" marL="0">
              <a:buNone/>
            </a:pPr>
            <a:r>
              <a:rPr lang="en-US" sz="1300" i="1" dirty="0">
                <a:solidFill>
                  <a:srgbClr val="7A8A82"/>
                </a:solidFill>
                <a:latin typeface="Arial" pitchFamily="34" charset="0"/>
                <a:ea typeface="Arial" pitchFamily="34" charset="-122"/>
                <a:cs typeface="Arial" pitchFamily="34" charset="-120"/>
              </a:rPr>
              <a:t>Les accès suivent l'organigramme officiel de l'ARCEP ; le dispatch les ajuste sans redéploiement.</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201400" cy="914400"/>
        </p:xfrm>
        <a:graphic>
          <a:graphicData uri="http://schemas.openxmlformats.org/drawingml/2006/table">
            <a:tbl>
              <a:tblPr/>
              <a:tblGrid>
                <a:gridCol w="2834640"/>
                <a:gridCol w="4572000"/>
                <a:gridCol w="3794760"/>
              </a:tblGrid>
              <a:tr h="5029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Profil</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Espace et modules types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Particularités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0E5C3F"/>
                    </a:solidFill>
                  </a:tcPr>
                </a:tc>
              </a:tr>
              <a:tr h="502920">
                <a:tc>
                  <a:txBody>
                    <a:bodyPr/>
                    <a:lstStyle/>
                    <a:p>
                      <a:pPr indent="0" marL="0">
                        <a:buNone/>
                      </a:pPr>
                      <a:r>
                        <a:rPr lang="en-US" sz="1000" dirty="0">
                          <a:solidFill>
                            <a:srgbClr val="3A4A42"/>
                          </a:solidFill>
                          <a:latin typeface="Arial" pitchFamily="34" charset="0"/>
                          <a:ea typeface="Arial" pitchFamily="34" charset="-122"/>
                          <a:cs typeface="Arial" pitchFamily="34" charset="-120"/>
                        </a:rPr>
                        <a:t>Gouvernance &amp; exécutif (Président, SE…)</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Vue complète — tous les modules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Habilitation au démasquage pour le Président et le SE</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502920">
                <a:tc>
                  <a:txBody>
                    <a:bodyPr/>
                    <a:lstStyle/>
                    <a:p>
                      <a:pPr indent="0" marL="0">
                        <a:buNone/>
                      </a:pPr>
                      <a:r>
                        <a:rPr lang="en-US" sz="1000" dirty="0">
                          <a:solidFill>
                            <a:srgbClr val="3A4A42"/>
                          </a:solidFill>
                          <a:latin typeface="Arial" pitchFamily="34" charset="0"/>
                          <a:ea typeface="Arial" pitchFamily="34" charset="-122"/>
                          <a:cs typeface="Arial" pitchFamily="34" charset="-120"/>
                        </a:rPr>
                        <a:t>Direction marché (DM)</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Observatoire, opérateurs, géo, registre, tiers, postal</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Instruit l'accès des tiers et le volet postal</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3A4A42"/>
                          </a:solidFill>
                          <a:latin typeface="Arial" pitchFamily="34" charset="0"/>
                          <a:ea typeface="Arial" pitchFamily="34" charset="-122"/>
                          <a:cs typeface="Arial" pitchFamily="34" charset="-120"/>
                        </a:rPr>
                        <a:t>Direction qualité (DHQR)</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QoS, connecteurs, mesures N3, réclamations, postal</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Pilote les campagnes de sondes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502920">
                <a:tc>
                  <a:txBody>
                    <a:bodyPr/>
                    <a:lstStyle/>
                    <a:p>
                      <a:pPr indent="0" marL="0">
                        <a:buNone/>
                      </a:pPr>
                      <a:r>
                        <a:rPr lang="en-US" sz="1000" dirty="0">
                          <a:solidFill>
                            <a:srgbClr val="3A4A42"/>
                          </a:solidFill>
                          <a:latin typeface="Arial" pitchFamily="34" charset="0"/>
                          <a:ea typeface="Arial" pitchFamily="34" charset="-122"/>
                          <a:cs typeface="Arial" pitchFamily="34" charset="-120"/>
                        </a:rPr>
                        <a:t>Antifraude (DCTLF) &amp; Juridique (DJ)</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Antifraude, investigation, analytics — DJ : + tiers, mesures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Seules directions habilitées au démasquage ; écriture des dossiers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3A4A42"/>
                          </a:solidFill>
                          <a:latin typeface="Arial" pitchFamily="34" charset="0"/>
                          <a:ea typeface="Arial" pitchFamily="34" charset="-122"/>
                          <a:cs typeface="Arial" pitchFamily="34" charset="-120"/>
                        </a:rPr>
                        <a:t>Opérateurs mobile money</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Espace cloisonné : leurs flux, leur QoS, leurs mesures, leurs réclamations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Ne voient jamais les données d'un concurrent ni les totaux nationaux</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1F5F3"/>
                    </a:solidFill>
                  </a:tcPr>
                </a:tc>
              </a:tr>
              <a:tr h="502920">
                <a:tc>
                  <a:txBody>
                    <a:bodyPr/>
                    <a:lstStyle/>
                    <a:p>
                      <a:pPr indent="0" marL="0">
                        <a:buNone/>
                      </a:pPr>
                      <a:r>
                        <a:rPr lang="en-US" sz="1000" dirty="0">
                          <a:solidFill>
                            <a:srgbClr val="3A4A42"/>
                          </a:solidFill>
                          <a:latin typeface="Arial" pitchFamily="34" charset="0"/>
                          <a:ea typeface="Arial" pitchFamily="34" charset="-122"/>
                          <a:cs typeface="Arial" pitchFamily="34" charset="-120"/>
                        </a:rPr>
                        <a:t>Admin système</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Dispatch des modules uniquement</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c>
                  <a:txBody>
                    <a:bodyPr/>
                    <a:lstStyle/>
                    <a:p>
                      <a:pPr indent="0" marL="0">
                        <a:buNone/>
                      </a:pPr>
                      <a:r>
                        <a:rPr lang="en-US" sz="1000" dirty="0">
                          <a:solidFill>
                            <a:srgbClr val="3A4A42"/>
                          </a:solidFill>
                          <a:latin typeface="Arial" pitchFamily="34" charset="0"/>
                          <a:ea typeface="Arial" pitchFamily="34" charset="-122"/>
                          <a:cs typeface="Arial" pitchFamily="34" charset="-120"/>
                        </a:rPr>
                        <a:t>Aucun module métier — séparation des tâches</a:t>
                      </a:r>
                      <a:endParaRPr lang="en-US" sz="1000" dirty="0">
                        <a:latin typeface="Arial" charset="0"/>
                        <a:ea typeface="Arial" charset="0"/>
                        <a:cs typeface="Arial" charset="0"/>
                      </a:endParaRPr>
                    </a:p>
                  </a:txBody>
                  <a:tcPr marL="36576" marR="36576" marT="36576" marB="36576" anchor="ctr">
                    <a:lnL w="6350" cap="flat" cmpd="sng" algn="ctr">
                      <a:solidFill>
                        <a:srgbClr val="D8E2DC"/>
                      </a:solidFill>
                      <a:prstDash val="solid"/>
                      <a:round/>
                      <a:headEnd type="none" w="med" len="med"/>
                      <a:tailEnd type="none" w="med" len="med"/>
                    </a:lnL>
                    <a:lnR w="6350" cap="flat" cmpd="sng" algn="ctr">
                      <a:solidFill>
                        <a:srgbClr val="D8E2DC"/>
                      </a:solidFill>
                      <a:prstDash val="solid"/>
                      <a:round/>
                      <a:headEnd type="none" w="med" len="med"/>
                      <a:tailEnd type="none" w="med" len="med"/>
                    </a:lnR>
                    <a:lnT w="6350" cap="flat" cmpd="sng" algn="ctr">
                      <a:solidFill>
                        <a:srgbClr val="D8E2DC"/>
                      </a:solidFill>
                      <a:prstDash val="solid"/>
                      <a:round/>
                      <a:headEnd type="none" w="med" len="med"/>
                      <a:tailEnd type="none" w="med" len="med"/>
                    </a:lnT>
                    <a:lnB w="6350" cap="flat" cmpd="sng" algn="ctr">
                      <a:solidFill>
                        <a:srgbClr val="D8E2DC"/>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212080"/>
            <a:ext cx="11201400" cy="777240"/>
          </a:xfrm>
          <a:prstGeom prst="roundRect">
            <a:avLst>
              <a:gd name="adj" fmla="val 10588"/>
            </a:avLst>
          </a:prstGeom>
          <a:solidFill>
            <a:srgbClr val="EAF3EE"/>
          </a:solidFill>
          <a:ln/>
        </p:spPr>
      </p:sp>
      <p:sp>
        <p:nvSpPr>
          <p:cNvPr id="8" name="Text 5"/>
          <p:cNvSpPr/>
          <p:nvPr/>
        </p:nvSpPr>
        <p:spPr>
          <a:xfrm>
            <a:off x="667512" y="5285232"/>
            <a:ext cx="10872216" cy="630936"/>
          </a:xfrm>
          <a:prstGeom prst="rect">
            <a:avLst/>
          </a:prstGeom>
          <a:noFill/>
          <a:ln/>
        </p:spPr>
        <p:txBody>
          <a:bodyPr wrap="square" lIns="0" tIns="0" rIns="0" bIns="0" rtlCol="0" anchor="ctr"/>
          <a:lstStyle/>
          <a:p>
            <a:pPr indent="0" marL="0">
              <a:buNone/>
            </a:pPr>
            <a:r>
              <a:rPr lang="en-US" sz="1050" b="1" dirty="0">
                <a:solidFill>
                  <a:srgbClr val="0E5C3F"/>
                </a:solidFill>
                <a:latin typeface="Arial" pitchFamily="34" charset="0"/>
                <a:ea typeface="Arial" pitchFamily="34" charset="-122"/>
                <a:cs typeface="Arial" pitchFamily="34" charset="-120"/>
              </a:rPr>
              <a:t>COMMENT LIRE   </a:t>
            </a:r>
            <a:pPr indent="0" marL="0">
              <a:buNone/>
            </a:pPr>
            <a:r>
              <a:rPr lang="en-US" sz="1100" dirty="0">
                <a:solidFill>
                  <a:srgbClr val="3A4A42"/>
                </a:solidFill>
                <a:latin typeface="Arial" pitchFamily="34" charset="0"/>
                <a:ea typeface="Arial" pitchFamily="34" charset="-122"/>
                <a:cs typeface="Arial" pitchFamily="34" charset="-120"/>
              </a:rPr>
              <a:t>la colonne « modules types » correspond aux affectations par défaut — l'admin système peut les ajuster direction par direction, compte par compte, avec effet immédiat et journalisation.</a:t>
            </a:r>
            <a:endParaRPr lang="en-US" sz="1050" dirty="0"/>
          </a:p>
        </p:txBody>
      </p:sp>
      <p:sp>
        <p:nvSpPr>
          <p:cNvPr id="9" name="Text 6"/>
          <p:cNvSpPr/>
          <p:nvPr/>
        </p:nvSpPr>
        <p:spPr>
          <a:xfrm>
            <a:off x="502920" y="6510528"/>
            <a:ext cx="11155680" cy="274320"/>
          </a:xfrm>
          <a:prstGeom prst="rect">
            <a:avLst/>
          </a:prstGeom>
          <a:noFill/>
          <a:ln/>
        </p:spPr>
        <p:txBody>
          <a:bodyPr wrap="square" lIns="0" tIns="0" rIns="0" bIns="0" rtlCol="0" anchor="ctr"/>
          <a:lstStyle/>
          <a:p>
            <a:pPr indent="0" marL="0">
              <a:buNone/>
            </a:pPr>
            <a:r>
              <a:rPr lang="en-US" sz="900" dirty="0">
                <a:solidFill>
                  <a:srgbClr val="7A8A82"/>
                </a:solidFill>
                <a:latin typeface="Arial" pitchFamily="34" charset="0"/>
                <a:ea typeface="Arial" pitchFamily="34" charset="-122"/>
                <a:cs typeface="Arial" pitchFamily="34" charset="-120"/>
              </a:rPr>
              <a:t>SUMo — prototype (données simulées) · ARCEP</a:t>
            </a:r>
            <a:pPr indent="0" marL="0">
              <a:buNone/>
            </a:pPr>
            <a:r>
              <a:rPr lang="en-US" sz="900" b="1" dirty="0">
                <a:solidFill>
                  <a:srgbClr val="7A8A82"/>
                </a:solidFill>
                <a:latin typeface="Arial" pitchFamily="34" charset="0"/>
                <a:ea typeface="Arial" pitchFamily="34" charset="-122"/>
                <a:cs typeface="Arial" pitchFamily="34" charset="-120"/>
              </a:rPr>
              <a:t>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231B"/>
        </a:solidFill>
      </p:bgPr>
    </p:bg>
    <p:spTree>
      <p:nvGrpSpPr>
        <p:cNvPr id="1" name=""/>
        <p:cNvGrpSpPr/>
        <p:nvPr/>
      </p:nvGrpSpPr>
      <p:grpSpPr>
        <a:xfrm>
          <a:off x="0" y="0"/>
          <a:ext cx="0" cy="0"/>
          <a:chOff x="0" y="0"/>
          <a:chExt cx="0" cy="0"/>
        </a:xfrm>
      </p:grpSpPr>
      <p:sp>
        <p:nvSpPr>
          <p:cNvPr id="2" name="Shape 0"/>
          <p:cNvSpPr/>
          <p:nvPr/>
        </p:nvSpPr>
        <p:spPr>
          <a:xfrm>
            <a:off x="-2560320" y="3566160"/>
            <a:ext cx="6583680" cy="6583680"/>
          </a:xfrm>
          <a:prstGeom prst="ellipse">
            <a:avLst/>
          </a:prstGeom>
          <a:solidFill>
            <a:srgbClr val="0A3D2B"/>
          </a:solidFill>
          <a:ln/>
        </p:spPr>
      </p:sp>
      <p:sp>
        <p:nvSpPr>
          <p:cNvPr id="3" name="Text 1"/>
          <p:cNvSpPr/>
          <p:nvPr/>
        </p:nvSpPr>
        <p:spPr>
          <a:xfrm>
            <a:off x="685800" y="685800"/>
            <a:ext cx="100584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Ce qu'il faut retenir</a:t>
            </a:r>
            <a:endParaRPr lang="en-US" sz="3600" dirty="0"/>
          </a:p>
        </p:txBody>
      </p:sp>
      <p:sp>
        <p:nvSpPr>
          <p:cNvPr id="4" name="Shape 2"/>
          <p:cNvSpPr/>
          <p:nvPr/>
        </p:nvSpPr>
        <p:spPr>
          <a:xfrm>
            <a:off x="868680" y="1645920"/>
            <a:ext cx="475488" cy="475488"/>
          </a:xfrm>
          <a:prstGeom prst="ellipse">
            <a:avLst/>
          </a:prstGeom>
          <a:solidFill>
            <a:srgbClr val="E8A93B"/>
          </a:solidFill>
          <a:ln/>
        </p:spPr>
      </p:sp>
      <p:sp>
        <p:nvSpPr>
          <p:cNvPr id="5" name="Text 3"/>
          <p:cNvSpPr/>
          <p:nvPr/>
        </p:nvSpPr>
        <p:spPr>
          <a:xfrm>
            <a:off x="868680" y="1627632"/>
            <a:ext cx="475488" cy="493776"/>
          </a:xfrm>
          <a:prstGeom prst="rect">
            <a:avLst/>
          </a:prstGeom>
          <a:noFill/>
          <a:ln/>
        </p:spPr>
        <p:txBody>
          <a:bodyPr wrap="square" lIns="0" tIns="0" rIns="0" bIns="0" rtlCol="0" anchor="ctr"/>
          <a:lstStyle/>
          <a:p>
            <a:pPr algn="ctr" indent="0" marL="0">
              <a:buNone/>
            </a:pPr>
            <a:r>
              <a:rPr lang="en-US" sz="1600" b="1" dirty="0">
                <a:solidFill>
                  <a:srgbClr val="10231B"/>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600200" y="1609344"/>
            <a:ext cx="969264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Une capacité souveraine existe</a:t>
            </a:r>
            <a:endParaRPr lang="en-US" sz="1800" dirty="0"/>
          </a:p>
        </p:txBody>
      </p:sp>
      <p:sp>
        <p:nvSpPr>
          <p:cNvPr id="7" name="Text 5"/>
          <p:cNvSpPr/>
          <p:nvPr/>
        </p:nvSpPr>
        <p:spPr>
          <a:xfrm>
            <a:off x="1600200" y="2011680"/>
            <a:ext cx="9875520" cy="685800"/>
          </a:xfrm>
          <a:prstGeom prst="rect">
            <a:avLst/>
          </a:prstGeom>
          <a:noFill/>
          <a:ln/>
        </p:spPr>
        <p:txBody>
          <a:bodyPr wrap="square" lIns="0" tIns="0" rIns="0" bIns="0" rtlCol="0" anchor="ctr"/>
          <a:lstStyle/>
          <a:p>
            <a:pPr indent="0" marL="0">
              <a:buNone/>
            </a:pPr>
            <a:r>
              <a:rPr lang="en-US" sz="1250" dirty="0">
                <a:solidFill>
                  <a:srgbClr val="C4D6CB"/>
                </a:solidFill>
                <a:latin typeface="Arial" pitchFamily="34" charset="0"/>
                <a:ea typeface="Arial" pitchFamily="34" charset="-122"/>
                <a:cs typeface="Arial" pitchFamily="34" charset="-120"/>
              </a:rPr>
              <a:t>Le prototype fonctionne de bout en bout : collecte signée, registre infalsifiable, 17 modules, mesure indépendante, exports opposables.</a:t>
            </a:r>
            <a:endParaRPr lang="en-US" sz="1250" dirty="0"/>
          </a:p>
        </p:txBody>
      </p:sp>
      <p:sp>
        <p:nvSpPr>
          <p:cNvPr id="8" name="Shape 6"/>
          <p:cNvSpPr/>
          <p:nvPr/>
        </p:nvSpPr>
        <p:spPr>
          <a:xfrm>
            <a:off x="868680" y="2880360"/>
            <a:ext cx="475488" cy="475488"/>
          </a:xfrm>
          <a:prstGeom prst="ellipse">
            <a:avLst/>
          </a:prstGeom>
          <a:solidFill>
            <a:srgbClr val="E8A93B"/>
          </a:solidFill>
          <a:ln/>
        </p:spPr>
      </p:sp>
      <p:sp>
        <p:nvSpPr>
          <p:cNvPr id="9" name="Text 7"/>
          <p:cNvSpPr/>
          <p:nvPr/>
        </p:nvSpPr>
        <p:spPr>
          <a:xfrm>
            <a:off x="868680" y="2862072"/>
            <a:ext cx="475488" cy="493776"/>
          </a:xfrm>
          <a:prstGeom prst="rect">
            <a:avLst/>
          </a:prstGeom>
          <a:noFill/>
          <a:ln/>
        </p:spPr>
        <p:txBody>
          <a:bodyPr wrap="square" lIns="0" tIns="0" rIns="0" bIns="0" rtlCol="0" anchor="ctr"/>
          <a:lstStyle/>
          <a:p>
            <a:pPr algn="ctr" indent="0" marL="0">
              <a:buNone/>
            </a:pPr>
            <a:r>
              <a:rPr lang="en-US" sz="1600" b="1" dirty="0">
                <a:solidFill>
                  <a:srgbClr val="10231B"/>
                </a:solidFill>
                <a:latin typeface="Arial" pitchFamily="34" charset="0"/>
                <a:ea typeface="Arial" pitchFamily="34" charset="-122"/>
                <a:cs typeface="Arial" pitchFamily="34" charset="-120"/>
              </a:rPr>
              <a:t>2</a:t>
            </a:r>
            <a:endParaRPr lang="en-US" sz="1600" dirty="0"/>
          </a:p>
        </p:txBody>
      </p:sp>
      <p:sp>
        <p:nvSpPr>
          <p:cNvPr id="10" name="Text 8"/>
          <p:cNvSpPr/>
          <p:nvPr/>
        </p:nvSpPr>
        <p:spPr>
          <a:xfrm>
            <a:off x="1600200" y="2843784"/>
            <a:ext cx="969264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Un cadre respectueux des mandats</a:t>
            </a:r>
            <a:endParaRPr lang="en-US" sz="1800" dirty="0"/>
          </a:p>
        </p:txBody>
      </p:sp>
      <p:sp>
        <p:nvSpPr>
          <p:cNvPr id="11" name="Text 9"/>
          <p:cNvSpPr/>
          <p:nvPr/>
        </p:nvSpPr>
        <p:spPr>
          <a:xfrm>
            <a:off x="1600200" y="3246120"/>
            <a:ext cx="9875520" cy="685800"/>
          </a:xfrm>
          <a:prstGeom prst="rect">
            <a:avLst/>
          </a:prstGeom>
          <a:noFill/>
          <a:ln/>
        </p:spPr>
        <p:txBody>
          <a:bodyPr wrap="square" lIns="0" tIns="0" rIns="0" bIns="0" rtlCol="0" anchor="ctr"/>
          <a:lstStyle/>
          <a:p>
            <a:pPr indent="0" marL="0">
              <a:buNone/>
            </a:pPr>
            <a:r>
              <a:rPr lang="en-US" sz="1250" dirty="0">
                <a:solidFill>
                  <a:srgbClr val="C4D6CB"/>
                </a:solidFill>
                <a:latin typeface="Arial" pitchFamily="34" charset="0"/>
                <a:ea typeface="Arial" pitchFamily="34" charset="-122"/>
                <a:cs typeface="Arial" pitchFamily="34" charset="-120"/>
              </a:rPr>
              <a:t>L'ARCEP supervise la couche communications et postale ; BEAC/COBAC, ANIF et DGI sont servis par conventions — jamais concurrencés.</a:t>
            </a:r>
            <a:endParaRPr lang="en-US" sz="1250" dirty="0"/>
          </a:p>
        </p:txBody>
      </p:sp>
      <p:sp>
        <p:nvSpPr>
          <p:cNvPr id="12" name="Shape 10"/>
          <p:cNvSpPr/>
          <p:nvPr/>
        </p:nvSpPr>
        <p:spPr>
          <a:xfrm>
            <a:off x="868680" y="4114800"/>
            <a:ext cx="475488" cy="475488"/>
          </a:xfrm>
          <a:prstGeom prst="ellipse">
            <a:avLst/>
          </a:prstGeom>
          <a:solidFill>
            <a:srgbClr val="E8A93B"/>
          </a:solidFill>
          <a:ln/>
        </p:spPr>
      </p:sp>
      <p:sp>
        <p:nvSpPr>
          <p:cNvPr id="13" name="Text 11"/>
          <p:cNvSpPr/>
          <p:nvPr/>
        </p:nvSpPr>
        <p:spPr>
          <a:xfrm>
            <a:off x="868680" y="4096512"/>
            <a:ext cx="475488" cy="493776"/>
          </a:xfrm>
          <a:prstGeom prst="rect">
            <a:avLst/>
          </a:prstGeom>
          <a:noFill/>
          <a:ln/>
        </p:spPr>
        <p:txBody>
          <a:bodyPr wrap="square" lIns="0" tIns="0" rIns="0" bIns="0" rtlCol="0" anchor="ctr"/>
          <a:lstStyle/>
          <a:p>
            <a:pPr algn="ctr" indent="0" marL="0">
              <a:buNone/>
            </a:pPr>
            <a:r>
              <a:rPr lang="en-US" sz="1600" b="1" dirty="0">
                <a:solidFill>
                  <a:srgbClr val="10231B"/>
                </a:solidFill>
                <a:latin typeface="Arial" pitchFamily="34" charset="0"/>
                <a:ea typeface="Arial" pitchFamily="34" charset="-122"/>
                <a:cs typeface="Arial" pitchFamily="34" charset="-120"/>
              </a:rPr>
              <a:t>3</a:t>
            </a:r>
            <a:endParaRPr lang="en-US" sz="1600" dirty="0"/>
          </a:p>
        </p:txBody>
      </p:sp>
      <p:sp>
        <p:nvSpPr>
          <p:cNvPr id="14" name="Text 12"/>
          <p:cNvSpPr/>
          <p:nvPr/>
        </p:nvSpPr>
        <p:spPr>
          <a:xfrm>
            <a:off x="1600200" y="4078224"/>
            <a:ext cx="969264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Une décision modeste et datée</a:t>
            </a:r>
            <a:endParaRPr lang="en-US" sz="1800" dirty="0"/>
          </a:p>
        </p:txBody>
      </p:sp>
      <p:sp>
        <p:nvSpPr>
          <p:cNvPr id="15" name="Text 13"/>
          <p:cNvSpPr/>
          <p:nvPr/>
        </p:nvSpPr>
        <p:spPr>
          <a:xfrm>
            <a:off x="1600200" y="4480560"/>
            <a:ext cx="9875520" cy="685800"/>
          </a:xfrm>
          <a:prstGeom prst="rect">
            <a:avLst/>
          </a:prstGeom>
          <a:noFill/>
          <a:ln/>
        </p:spPr>
        <p:txBody>
          <a:bodyPr wrap="square" lIns="0" tIns="0" rIns="0" bIns="0" rtlCol="0" anchor="ctr"/>
          <a:lstStyle/>
          <a:p>
            <a:pPr indent="0" marL="0">
              <a:buNone/>
            </a:pPr>
            <a:r>
              <a:rPr lang="en-US" sz="1250" dirty="0">
                <a:solidFill>
                  <a:srgbClr val="C4D6CB"/>
                </a:solidFill>
                <a:latin typeface="Arial" pitchFamily="34" charset="0"/>
                <a:ea typeface="Arial" pitchFamily="34" charset="-122"/>
                <a:cs typeface="Arial" pitchFamily="34" charset="-120"/>
              </a:rPr>
              <a:t>Phase 0 : trois mois, gabarits déclaratifs et sondes pilotes, avec un livrable public — le premier bulletin des services financiers numériques.</a:t>
            </a:r>
            <a:endParaRPr lang="en-US" sz="1250" dirty="0"/>
          </a:p>
        </p:txBody>
      </p:sp>
      <p:sp>
        <p:nvSpPr>
          <p:cNvPr id="16" name="Shape 14"/>
          <p:cNvSpPr/>
          <p:nvPr/>
        </p:nvSpPr>
        <p:spPr>
          <a:xfrm>
            <a:off x="685800" y="5486400"/>
            <a:ext cx="10835640" cy="777240"/>
          </a:xfrm>
          <a:prstGeom prst="roundRect">
            <a:avLst>
              <a:gd name="adj" fmla="val 10588"/>
            </a:avLst>
          </a:prstGeom>
          <a:solidFill>
            <a:srgbClr val="0A3D2B"/>
          </a:solidFill>
          <a:ln/>
        </p:spPr>
      </p:sp>
      <p:sp>
        <p:nvSpPr>
          <p:cNvPr id="17" name="Text 15"/>
          <p:cNvSpPr/>
          <p:nvPr/>
        </p:nvSpPr>
        <p:spPr>
          <a:xfrm>
            <a:off x="914400" y="5596128"/>
            <a:ext cx="10424160" cy="566928"/>
          </a:xfrm>
          <a:prstGeom prst="rect">
            <a:avLst/>
          </a:prstGeom>
          <a:noFill/>
          <a:ln/>
        </p:spPr>
        <p:txBody>
          <a:bodyPr wrap="square" lIns="0" tIns="0" rIns="0" bIns="0" rtlCol="0" anchor="ctr"/>
          <a:lstStyle/>
          <a:p>
            <a:pPr indent="0" marL="0">
              <a:buNone/>
            </a:pPr>
            <a:r>
              <a:rPr lang="en-US" sz="1150" dirty="0">
                <a:solidFill>
                  <a:srgbClr val="E9F2EC"/>
                </a:solidFill>
                <a:latin typeface="Arial" pitchFamily="34" charset="0"/>
                <a:ea typeface="Arial" pitchFamily="34" charset="-122"/>
                <a:cs typeface="Arial" pitchFamily="34" charset="-120"/>
              </a:rPr>
              <a:t>ARCEP — dossier technique complet disponible : spécifications M14 (13 livrables), gabarits de collecte, plan de déploiement en 4 phases, grille d'évaluation des fournisseurs.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SUMo — Supervision des services financiers numériques</dc:title>
  <dc:subject>PptxGenJS Presentation</dc:subject>
  <dc:creator>ARCEP — Prototype SUMo</dc:creator>
  <cp:lastModifiedBy>ARCEP — Prototype SUMo</cp:lastModifiedBy>
  <cp:revision>1</cp:revision>
  <dcterms:created xsi:type="dcterms:W3CDTF">2026-07-31T10:45:48Z</dcterms:created>
  <dcterms:modified xsi:type="dcterms:W3CDTF">2026-07-31T10:45:48Z</dcterms:modified>
</cp:coreProperties>
</file>